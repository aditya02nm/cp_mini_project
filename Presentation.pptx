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9" d="100"/>
          <a:sy n="89" d="100"/>
        </p:scale>
        <p:origin x="4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85659" cy="6858000"/>
          </a:xfrm>
          <a:prstGeom prst="rect">
            <a:avLst/>
          </a:prstGeom>
          <a:solidFill>
            <a:srgbClr val="1E1E1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textbox 4"/>
          <p:cNvSpPr/>
          <p:nvPr/>
        </p:nvSpPr>
        <p:spPr>
          <a:xfrm>
            <a:off x="279420" y="247629"/>
            <a:ext cx="11639550" cy="55543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7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044"/>
              </a:lnSpc>
              <a:spcBef>
                <a:spcPts val="1"/>
              </a:spcBef>
              <a:tabLst/>
            </a:pPr>
            <a:r>
              <a:rPr sz="2300" kern="0" spc="-80" dirty="0">
                <a:solidFill>
                  <a:srgbClr val="E09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{</a:t>
            </a:r>
            <a:r>
              <a:rPr sz="2300" kern="0" spc="-340" dirty="0">
                <a:solidFill>
                  <a:srgbClr val="E09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kern="0" spc="-80" dirty="0">
                <a:solidFill>
                  <a:srgbClr val="D09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}</a:t>
            </a:r>
            <a:r>
              <a:rPr sz="2300" kern="0" spc="0" dirty="0">
                <a:solidFill>
                  <a:srgbClr val="D09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                                                 </a:t>
            </a:r>
            <a:endParaRPr sz="2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28800" algn="l" rtl="0" eaLnBrk="0">
              <a:lnSpc>
                <a:spcPct val="80000"/>
              </a:lnSpc>
              <a:spcBef>
                <a:spcPts val="3395"/>
              </a:spcBef>
              <a:tabLst/>
            </a:pPr>
            <a:r>
              <a:rPr sz="11300" b="1" kern="0" spc="-270" dirty="0">
                <a:solidFill>
                  <a:srgbClr val="10D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LibeManage</a:t>
            </a:r>
            <a:endParaRPr sz="11300" dirty="0">
              <a:latin typeface="Arial"/>
              <a:ea typeface="Arial"/>
              <a:cs typeface="Arial"/>
            </a:endParaRPr>
          </a:p>
          <a:p>
            <a:pPr marL="1644014" algn="l" rtl="0" eaLnBrk="0">
              <a:lnSpc>
                <a:spcPct val="82000"/>
              </a:lnSpc>
              <a:spcBef>
                <a:spcPts val="608"/>
              </a:spcBef>
              <a:tabLst/>
            </a:pPr>
            <a:r>
              <a:rPr sz="4200" b="1" kern="0" spc="-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Library</a:t>
            </a:r>
            <a:r>
              <a:rPr sz="4200" b="1" kern="0" spc="2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200" b="1" kern="0" spc="-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</a:t>
            </a:r>
            <a:r>
              <a:rPr sz="4200" b="1" kern="0" spc="2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200" b="1" kern="0" spc="-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Man</a:t>
            </a:r>
            <a:r>
              <a:rPr sz="4200" b="1" kern="0" spc="-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agement System</a:t>
            </a:r>
            <a:endParaRPr sz="4200" dirty="0">
              <a:latin typeface="Arial"/>
              <a:ea typeface="Arial"/>
              <a:cs typeface="Arial"/>
            </a:endParaRPr>
          </a:p>
          <a:p>
            <a:pPr marL="3485515" algn="l" rtl="0" eaLnBrk="0">
              <a:lnSpc>
                <a:spcPct val="83000"/>
              </a:lnSpc>
              <a:spcBef>
                <a:spcPts val="885"/>
              </a:spcBef>
              <a:tabLst/>
            </a:pPr>
            <a:r>
              <a:rPr sz="2400" kern="0" spc="0" dirty="0">
                <a:solidFill>
                  <a:srgbClr val="E0B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2400" kern="0" spc="70" dirty="0">
                <a:solidFill>
                  <a:srgbClr val="E0B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0" dirty="0">
                <a:solidFill>
                  <a:srgbClr val="E0B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Command</a:t>
            </a:r>
            <a:r>
              <a:rPr sz="2400" kern="0" spc="70" dirty="0">
                <a:solidFill>
                  <a:srgbClr val="E0B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2400" kern="0" spc="0" dirty="0">
                <a:solidFill>
                  <a:srgbClr val="E0B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Line</a:t>
            </a:r>
            <a:r>
              <a:rPr sz="2400" kern="0" spc="70" dirty="0">
                <a:solidFill>
                  <a:srgbClr val="E0B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0" dirty="0">
                <a:solidFill>
                  <a:srgbClr val="E0B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Application</a:t>
            </a:r>
            <a:r>
              <a:rPr sz="2400" kern="0" spc="70" dirty="0">
                <a:solidFill>
                  <a:srgbClr val="E0B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0" dirty="0">
                <a:solidFill>
                  <a:srgbClr val="E0B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2400" kern="0" spc="120" dirty="0">
                <a:solidFill>
                  <a:srgbClr val="E0B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0" dirty="0">
                <a:solidFill>
                  <a:srgbClr val="E0B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endParaRPr sz="2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816350" algn="l" rtl="0" eaLnBrk="0">
              <a:lnSpc>
                <a:spcPct val="83000"/>
              </a:lnSpc>
              <a:spcBef>
                <a:spcPts val="606"/>
              </a:spcBef>
              <a:tabLst/>
            </a:pP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Student</a:t>
            </a:r>
            <a:r>
              <a:rPr sz="2000" kern="0" spc="5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Name</a:t>
            </a:r>
            <a:r>
              <a:rPr sz="20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:[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Your</a:t>
            </a:r>
            <a:r>
              <a:rPr sz="2000" kern="0" spc="5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Name</a:t>
            </a:r>
            <a:r>
              <a:rPr sz="2000" kern="0" spc="5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Here</a:t>
            </a:r>
            <a:r>
              <a:rPr sz="20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]</a:t>
            </a:r>
            <a:endParaRPr sz="2000" dirty="0">
              <a:latin typeface="Arial"/>
              <a:ea typeface="Arial"/>
              <a:cs typeface="Arial"/>
            </a:endParaRPr>
          </a:p>
          <a:p>
            <a:pPr marL="3975100" algn="l" rtl="0" eaLnBrk="0">
              <a:lnSpc>
                <a:spcPct val="83000"/>
              </a:lnSpc>
              <a:spcBef>
                <a:spcPts val="708"/>
              </a:spcBef>
              <a:tabLst/>
            </a:pP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Course</a:t>
            </a:r>
            <a:r>
              <a:rPr sz="20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:[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Course</a:t>
            </a:r>
            <a:r>
              <a:rPr sz="20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Code</a:t>
            </a:r>
            <a:r>
              <a:rPr sz="20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&amp;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Name</a:t>
            </a:r>
            <a:r>
              <a:rPr sz="20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]</a:t>
            </a:r>
            <a:endParaRPr sz="2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7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317365" algn="l" rtl="0" eaLnBrk="0">
              <a:lnSpc>
                <a:spcPct val="82000"/>
              </a:lnSpc>
              <a:tabLst/>
            </a:pP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Date</a:t>
            </a:r>
            <a:r>
              <a:rPr sz="20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:[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Presentation</a:t>
            </a:r>
            <a:r>
              <a:rPr sz="20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Date</a:t>
            </a:r>
            <a:r>
              <a:rPr sz="20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]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560428" y="260329"/>
            <a:ext cx="342839" cy="361965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23819" y="6286522"/>
            <a:ext cx="336621" cy="3936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4622819" y="1942187"/>
            <a:ext cx="3109595" cy="3805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75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700" b="1" kern="0" spc="-40" dirty="0">
                <a:solidFill>
                  <a:srgbClr val="E09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Why CLI-Bas</a:t>
            </a:r>
            <a:r>
              <a:rPr sz="2700" b="1" kern="0" spc="-40" dirty="0">
                <a:solidFill>
                  <a:srgbClr val="E0A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ed</a:t>
            </a:r>
            <a:r>
              <a:rPr sz="2700" b="1" kern="0" spc="160" dirty="0">
                <a:solidFill>
                  <a:srgbClr val="E0A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-40" dirty="0">
                <a:solidFill>
                  <a:srgbClr val="E0A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2700" b="1" kern="0" spc="0" dirty="0">
                <a:solidFill>
                  <a:srgbClr val="E0A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2700" b="1" kern="0" spc="-30" dirty="0">
                <a:solidFill>
                  <a:srgbClr val="E0A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Solution?</a:t>
            </a:r>
            <a:endParaRPr sz="27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ts val="2619"/>
              </a:lnSpc>
              <a:spcBef>
                <a:spcPts val="790"/>
              </a:spcBef>
              <a:tabLst/>
            </a:pP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·Perfect</a:t>
            </a:r>
            <a:r>
              <a:rPr sz="20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2000" kern="0" spc="2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first-y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ear</a:t>
            </a:r>
            <a:endParaRPr sz="2000" dirty="0">
              <a:latin typeface="Arial"/>
              <a:ea typeface="Arial"/>
              <a:cs typeface="Arial"/>
            </a:endParaRPr>
          </a:p>
          <a:p>
            <a:pPr marL="222250" algn="l" rtl="0" eaLnBrk="0">
              <a:lnSpc>
                <a:spcPts val="2823"/>
              </a:lnSpc>
              <a:tabLst/>
            </a:pPr>
            <a:r>
              <a:rPr sz="21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engineering</a:t>
            </a:r>
            <a:r>
              <a:rPr sz="2100" kern="0" spc="4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education</a:t>
            </a:r>
            <a:endParaRPr sz="2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spcBef>
                <a:spcPts val="1506"/>
              </a:spcBef>
              <a:tabLst/>
            </a:pPr>
            <a:r>
              <a:rPr sz="21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2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Demonstrates</a:t>
            </a:r>
            <a:r>
              <a:rPr sz="21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core</a:t>
            </a:r>
            <a:endParaRPr sz="2100" dirty="0">
              <a:latin typeface="Arial"/>
              <a:ea typeface="Arial"/>
              <a:cs typeface="Arial"/>
            </a:endParaRPr>
          </a:p>
          <a:p>
            <a:pPr marL="222250" algn="l" rtl="0" eaLnBrk="0">
              <a:lnSpc>
                <a:spcPct val="110000"/>
              </a:lnSpc>
              <a:spcBef>
                <a:spcPts val="49"/>
              </a:spcBef>
              <a:tabLst/>
            </a:pPr>
            <a:r>
              <a:rPr sz="21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programming</a:t>
            </a:r>
            <a:r>
              <a:rPr sz="2100" kern="0" spc="4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concepts</a:t>
            </a:r>
            <a:r>
              <a:rPr sz="2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practically</a:t>
            </a:r>
            <a:endParaRPr sz="2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583"/>
              </a:lnSpc>
              <a:spcBef>
                <a:spcPts val="617"/>
              </a:spcBef>
              <a:tabLst/>
            </a:pP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·Cross-platform</a:t>
            </a:r>
            <a:endParaRPr sz="2000" dirty="0">
              <a:latin typeface="Arial"/>
              <a:ea typeface="Arial"/>
              <a:cs typeface="Arial"/>
            </a:endParaRPr>
          </a:p>
          <a:p>
            <a:pPr marL="222250" algn="l" rtl="0" eaLnBrk="0">
              <a:lnSpc>
                <a:spcPct val="109000"/>
              </a:lnSpc>
              <a:spcBef>
                <a:spcPts val="5"/>
              </a:spcBef>
              <a:tabLst/>
            </a:pPr>
            <a:r>
              <a:rPr sz="21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compatibility with</a:t>
            </a:r>
            <a:r>
              <a:rPr sz="2100" kern="0" spc="2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any</a:t>
            </a:r>
            <a:r>
              <a:rPr sz="2100" kern="0" spc="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2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compiler</a:t>
            </a:r>
            <a:endParaRPr sz="2100" dirty="0">
              <a:latin typeface="Arial"/>
              <a:ea typeface="Arial"/>
              <a:cs typeface="Arial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895360" y="1954943"/>
            <a:ext cx="3278504" cy="34785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2700" b="1" kern="0" spc="-20" dirty="0">
                <a:solidFill>
                  <a:srgbClr val="E09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Ch</a:t>
            </a:r>
            <a:r>
              <a:rPr sz="2700" b="1" kern="0" spc="-20" dirty="0">
                <a:solidFill>
                  <a:srgbClr val="E09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allen</a:t>
            </a:r>
            <a:r>
              <a:rPr sz="2700" b="1" kern="0" spc="-20" dirty="0">
                <a:solidFill>
                  <a:srgbClr val="E0B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ge</a:t>
            </a:r>
            <a:endParaRPr sz="2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930"/>
              </a:lnSpc>
              <a:spcBef>
                <a:spcPts val="937"/>
              </a:spcBef>
              <a:tabLst/>
            </a:pPr>
            <a:r>
              <a:rPr sz="2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·Manual</a:t>
            </a:r>
            <a:r>
              <a:rPr sz="21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library</a:t>
            </a:r>
            <a:endParaRPr sz="2100" dirty="0">
              <a:latin typeface="Arial"/>
              <a:ea typeface="Arial"/>
              <a:cs typeface="Arial"/>
            </a:endParaRPr>
          </a:p>
          <a:p>
            <a:pPr marL="222250" algn="l" rtl="0" eaLnBrk="0">
              <a:lnSpc>
                <a:spcPct val="106000"/>
              </a:lnSpc>
              <a:spcBef>
                <a:spcPts val="96"/>
              </a:spcBef>
              <a:tabLst/>
            </a:pP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management</a:t>
            </a:r>
            <a:r>
              <a:rPr sz="20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20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inefficient</a:t>
            </a:r>
            <a:r>
              <a:rPr sz="20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2100" kern="0" spc="3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error</a:t>
            </a:r>
            <a:r>
              <a:rPr sz="21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2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prone</a:t>
            </a:r>
            <a:endParaRPr sz="2100" dirty="0">
              <a:latin typeface="Arial"/>
              <a:ea typeface="Arial"/>
              <a:cs typeface="Arial"/>
            </a:endParaRPr>
          </a:p>
          <a:p>
            <a:pPr marL="222250" indent="-209550" algn="l" rtl="0" eaLnBrk="0">
              <a:lnSpc>
                <a:spcPct val="116000"/>
              </a:lnSpc>
              <a:spcBef>
                <a:spcPts val="676"/>
              </a:spcBef>
              <a:tabLst/>
            </a:pPr>
            <a:r>
              <a:rPr sz="21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2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Traditional</a:t>
            </a:r>
            <a:r>
              <a:rPr sz="21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systems</a:t>
            </a:r>
            <a:r>
              <a:rPr sz="21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lack</a:t>
            </a:r>
            <a:r>
              <a:rPr sz="21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accessibility</a:t>
            </a:r>
            <a:r>
              <a:rPr sz="2100" kern="0" spc="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2100" kern="0" spc="2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learning</a:t>
            </a:r>
            <a:r>
              <a:rPr sz="2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1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environments</a:t>
            </a:r>
            <a:endParaRPr sz="2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614"/>
              </a:lnSpc>
              <a:spcBef>
                <a:spcPts val="648"/>
              </a:spcBef>
              <a:tabLst/>
            </a:pP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·Need</a:t>
            </a:r>
            <a:r>
              <a:rPr sz="2000" kern="0" spc="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20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hands</a:t>
            </a:r>
            <a:r>
              <a:rPr sz="20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-on</a:t>
            </a:r>
            <a:r>
              <a:rPr sz="2000" kern="0" spc="2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0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endParaRPr sz="2000" dirty="0">
              <a:latin typeface="Arial"/>
              <a:ea typeface="Arial"/>
              <a:cs typeface="Arial"/>
            </a:endParaRPr>
          </a:p>
          <a:p>
            <a:pPr marL="222250" algn="l" rtl="0" eaLnBrk="0">
              <a:lnSpc>
                <a:spcPts val="2614"/>
              </a:lnSpc>
              <a:tabLst/>
            </a:pP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programming</a:t>
            </a:r>
            <a:r>
              <a:rPr sz="20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applicati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8375639" y="2166879"/>
            <a:ext cx="2724150" cy="3298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6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2100" b="1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System Specifications</a:t>
            </a:r>
            <a:endParaRPr sz="2100" dirty="0">
              <a:latin typeface="Arial"/>
              <a:ea typeface="Arial"/>
              <a:cs typeface="Arial"/>
            </a:endParaRPr>
          </a:p>
          <a:p>
            <a:pPr marL="189864" algn="l" rtl="0" eaLnBrk="0">
              <a:lnSpc>
                <a:spcPts val="2726"/>
              </a:lnSpc>
              <a:spcBef>
                <a:spcPts val="1288"/>
              </a:spcBef>
              <a:tabLst/>
            </a:pPr>
            <a:r>
              <a:rPr sz="20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2000" kern="0" spc="2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Pre-loaded</a:t>
            </a:r>
            <a:r>
              <a:rPr sz="2000" kern="0" spc="2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</a:t>
            </a:r>
            <a:r>
              <a:rPr sz="20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ks</a:t>
            </a:r>
            <a:endParaRPr sz="2000" dirty="0">
              <a:latin typeface="Arial"/>
              <a:ea typeface="Arial"/>
              <a:cs typeface="Arial"/>
            </a:endParaRPr>
          </a:p>
          <a:p>
            <a:pPr marL="240665" algn="l" rtl="0" eaLnBrk="0">
              <a:lnSpc>
                <a:spcPts val="2726"/>
              </a:lnSpc>
              <a:spcBef>
                <a:spcPts val="1024"/>
              </a:spcBef>
              <a:tabLst/>
            </a:pPr>
            <a:r>
              <a:rPr sz="20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Maximum</a:t>
            </a:r>
            <a:r>
              <a:rPr sz="2000" kern="0" spc="2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</a:t>
            </a:r>
            <a:r>
              <a:rPr sz="20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</a:t>
            </a:r>
            <a:endParaRPr sz="2000" dirty="0">
              <a:latin typeface="Arial"/>
              <a:ea typeface="Arial"/>
              <a:cs typeface="Arial"/>
            </a:endParaRPr>
          </a:p>
          <a:p>
            <a:pPr marL="869314" algn="l" rtl="0" eaLnBrk="0">
              <a:lnSpc>
                <a:spcPct val="81000"/>
              </a:lnSpc>
              <a:spcBef>
                <a:spcPts val="339"/>
              </a:spcBef>
              <a:tabLst/>
            </a:pP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Capacity</a:t>
            </a:r>
            <a:endParaRPr sz="2000" dirty="0">
              <a:latin typeface="Arial"/>
              <a:ea typeface="Arial"/>
              <a:cs typeface="Arial"/>
            </a:endParaRPr>
          </a:p>
          <a:p>
            <a:pPr marL="228600" algn="l" rtl="0" eaLnBrk="0">
              <a:lnSpc>
                <a:spcPct val="78000"/>
              </a:lnSpc>
              <a:spcBef>
                <a:spcPts val="1669"/>
              </a:spcBef>
              <a:tabLst/>
            </a:pP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Zero</a:t>
            </a:r>
            <a:r>
              <a:rPr sz="2000" kern="0" spc="2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Memory</a:t>
            </a:r>
            <a:r>
              <a:rPr sz="20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</a:t>
            </a:r>
            <a:r>
              <a:rPr sz="20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aks</a:t>
            </a:r>
            <a:endParaRPr sz="2000" dirty="0">
              <a:latin typeface="Arial"/>
              <a:ea typeface="Arial"/>
              <a:cs typeface="Arial"/>
            </a:endParaRPr>
          </a:p>
          <a:p>
            <a:pPr marL="704215" algn="l" rtl="0" eaLnBrk="0">
              <a:lnSpc>
                <a:spcPts val="2550"/>
              </a:lnSpc>
              <a:tabLst/>
            </a:pP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Guarantee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endParaRPr sz="2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856614" indent="-354965" algn="l" rtl="0" eaLnBrk="0">
              <a:lnSpc>
                <a:spcPct val="109000"/>
              </a:lnSpc>
              <a:spcBef>
                <a:spcPts val="3"/>
              </a:spcBef>
              <a:tabLst/>
            </a:pP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Command-Lin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Interface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895360" y="818166"/>
            <a:ext cx="8395334" cy="609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18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tabLst/>
            </a:pPr>
            <a:r>
              <a:rPr sz="4700" b="1" kern="0" spc="-100" dirty="0">
                <a:solidFill>
                  <a:srgbClr val="10C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Problem S</a:t>
            </a:r>
            <a:r>
              <a:rPr sz="4700" b="1" kern="0" spc="-90" dirty="0">
                <a:solidFill>
                  <a:srgbClr val="10C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tat</a:t>
            </a:r>
            <a:r>
              <a:rPr sz="4700" b="1" kern="0" spc="-100" dirty="0">
                <a:solidFill>
                  <a:srgbClr val="10C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ement &amp;Overvie</a:t>
            </a:r>
            <a:r>
              <a:rPr sz="4700" b="1" kern="0" spc="-10" dirty="0">
                <a:solidFill>
                  <a:srgbClr val="10C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w</a:t>
            </a:r>
            <a:endParaRPr sz="4700" dirty="0">
              <a:latin typeface="Arial"/>
              <a:ea typeface="Arial"/>
              <a:cs typeface="Arial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10947420" y="6514477"/>
            <a:ext cx="293370" cy="215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9"/>
              </a:lnSpc>
              <a:tabLst/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2/15</a:t>
            </a:r>
            <a:endParaRPr sz="1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 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" name="group 2"/>
          <p:cNvGrpSpPr/>
          <p:nvPr/>
        </p:nvGrpSpPr>
        <p:grpSpPr>
          <a:xfrm rot="21600000">
            <a:off x="4356079" y="4787912"/>
            <a:ext cx="3498859" cy="1466857"/>
            <a:chOff x="0" y="0"/>
            <a:chExt cx="3498859" cy="1466857"/>
          </a:xfrm>
        </p:grpSpPr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3498859" cy="1466857"/>
            </a:xfrm>
            <a:prstGeom prst="rect">
              <a:avLst/>
            </a:prstGeom>
          </p:spPr>
        </p:pic>
        <p:sp>
          <p:nvSpPr>
            <p:cNvPr id="26" name="textbox 26"/>
            <p:cNvSpPr/>
            <p:nvPr/>
          </p:nvSpPr>
          <p:spPr>
            <a:xfrm>
              <a:off x="-12700" y="-12700"/>
              <a:ext cx="3524884" cy="14992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79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88900" algn="l" rtl="0" eaLnBrk="0">
                <a:lnSpc>
                  <a:spcPct val="83000"/>
                </a:lnSpc>
                <a:tabLst/>
              </a:pPr>
              <a:r>
                <a:rPr sz="2300" b="1" kern="0" spc="-10" dirty="0">
                  <a:solidFill>
                    <a:srgbClr val="E0B02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Case-Inse</a:t>
              </a:r>
              <a:r>
                <a:rPr sz="2300" b="1" kern="0" spc="-20" dirty="0">
                  <a:solidFill>
                    <a:srgbClr val="E0B02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nsitive Search</a:t>
              </a:r>
              <a:endParaRPr sz="2300" dirty="0">
                <a:latin typeface="Arial"/>
                <a:ea typeface="Arial"/>
                <a:cs typeface="Arial"/>
              </a:endParaRPr>
            </a:p>
            <a:p>
              <a:pPr marL="419100" algn="l" rtl="0" eaLnBrk="0">
                <a:lnSpc>
                  <a:spcPct val="81000"/>
                </a:lnSpc>
                <a:spcBef>
                  <a:spcPts val="381"/>
                </a:spcBef>
                <a:tabLst/>
              </a:pPr>
              <a:r>
                <a:rPr sz="1800" b="1" kern="0" spc="-60" dirty="0">
                  <a:solidFill>
                    <a:srgbClr val="E0A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Search by</a:t>
              </a:r>
              <a:r>
                <a:rPr sz="1800" b="1" kern="0" spc="100" dirty="0">
                  <a:solidFill>
                    <a:srgbClr val="E0A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b="1" kern="0" spc="-60" dirty="0">
                  <a:solidFill>
                    <a:srgbClr val="E0A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name</a:t>
              </a:r>
              <a:r>
                <a:rPr sz="1800" b="1" kern="0" spc="40" dirty="0">
                  <a:solidFill>
                    <a:srgbClr val="E0A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b="1" kern="0" spc="-60" dirty="0">
                  <a:solidFill>
                    <a:srgbClr val="E0A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or author</a:t>
              </a:r>
              <a:endParaRPr sz="18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8089880" y="3117853"/>
            <a:ext cx="3498860" cy="1466857"/>
            <a:chOff x="0" y="0"/>
            <a:chExt cx="3498860" cy="1466857"/>
          </a:xfrm>
        </p:grpSpPr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498860" cy="1466857"/>
            </a:xfrm>
            <a:prstGeom prst="rect">
              <a:avLst/>
            </a:prstGeom>
          </p:spPr>
        </p:pic>
        <p:sp>
          <p:nvSpPr>
            <p:cNvPr id="30" name="textbox 30"/>
            <p:cNvSpPr/>
            <p:nvPr/>
          </p:nvSpPr>
          <p:spPr>
            <a:xfrm>
              <a:off x="-12700" y="-12700"/>
              <a:ext cx="3524884" cy="14928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3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542414" algn="l" rtl="0" eaLnBrk="0">
                <a:lnSpc>
                  <a:spcPct val="78000"/>
                </a:lnSpc>
                <a:tabLst/>
              </a:pPr>
              <a:r>
                <a:rPr sz="4600" kern="0" spc="-10" dirty="0">
                  <a:solidFill>
                    <a:srgbClr val="E0A02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三</a:t>
              </a:r>
              <a:endParaRPr sz="4600" dirty="0">
                <a:latin typeface="KaiTi"/>
                <a:ea typeface="KaiTi"/>
                <a:cs typeface="KaiTi"/>
              </a:endParaRPr>
            </a:p>
            <a:p>
              <a:pPr marL="183514" algn="l" rtl="0" eaLnBrk="0">
                <a:lnSpc>
                  <a:spcPct val="83000"/>
                </a:lnSpc>
                <a:spcBef>
                  <a:spcPts val="74"/>
                </a:spcBef>
                <a:tabLst/>
              </a:pPr>
              <a:r>
                <a:rPr sz="2300" b="1" kern="0" spc="-40" dirty="0">
                  <a:solidFill>
                    <a:srgbClr val="E0A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Temporary Bubbl</a:t>
              </a:r>
              <a:r>
                <a:rPr sz="2300" b="1" kern="0" spc="-50" dirty="0">
                  <a:solidFill>
                    <a:srgbClr val="E0A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 Sort</a:t>
              </a:r>
              <a:endParaRPr sz="2300" dirty="0">
                <a:latin typeface="Arial"/>
                <a:ea typeface="Arial"/>
                <a:cs typeface="Arial"/>
              </a:endParaRPr>
            </a:p>
            <a:p>
              <a:pPr marL="158750" algn="l" rtl="0" eaLnBrk="0">
                <a:lnSpc>
                  <a:spcPts val="2453"/>
                </a:lnSpc>
                <a:spcBef>
                  <a:spcPts val="185"/>
                </a:spcBef>
                <a:tabLst/>
              </a:pPr>
              <a:r>
                <a:rPr sz="1800" kern="0" spc="-10" dirty="0">
                  <a:solidFill>
                    <a:srgbClr val="E0A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Sort</a:t>
              </a:r>
              <a:r>
                <a:rPr sz="1800" kern="0" spc="390" dirty="0">
                  <a:solidFill>
                    <a:srgbClr val="E0A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-10" dirty="0">
                  <a:solidFill>
                    <a:srgbClr val="E0A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by</a:t>
              </a:r>
              <a:r>
                <a:rPr sz="1800" kern="0" spc="320" dirty="0">
                  <a:solidFill>
                    <a:srgbClr val="E0A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-10" dirty="0">
                  <a:solidFill>
                    <a:srgbClr val="E0A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title(preserves</a:t>
              </a:r>
              <a:r>
                <a:rPr sz="1800" kern="0" spc="340" dirty="0">
                  <a:solidFill>
                    <a:srgbClr val="E0A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-10" dirty="0">
                  <a:solidFill>
                    <a:srgbClr val="E0A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original)</a:t>
              </a:r>
              <a:endParaRPr sz="18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8089880" y="1492232"/>
            <a:ext cx="3505200" cy="1460548"/>
            <a:chOff x="0" y="0"/>
            <a:chExt cx="3505200" cy="1460548"/>
          </a:xfrm>
        </p:grpSpPr>
        <p:pic>
          <p:nvPicPr>
            <p:cNvPr id="32" name="picture 3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3505200" cy="1460548"/>
            </a:xfrm>
            <a:prstGeom prst="rect">
              <a:avLst/>
            </a:prstGeom>
          </p:spPr>
        </p:pic>
        <p:sp>
          <p:nvSpPr>
            <p:cNvPr id="34" name="textbox 34"/>
            <p:cNvSpPr/>
            <p:nvPr/>
          </p:nvSpPr>
          <p:spPr>
            <a:xfrm>
              <a:off x="-12700" y="-12700"/>
              <a:ext cx="3530600" cy="14865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87500" algn="l" rtl="0" eaLnBrk="0">
                <a:lnSpc>
                  <a:spcPts val="1737"/>
                </a:lnSpc>
                <a:spcBef>
                  <a:spcPts val="5"/>
                </a:spcBef>
                <a:tabLst/>
              </a:pPr>
              <a:r>
                <a:rPr sz="2400" kern="0" spc="-1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一</a:t>
              </a:r>
              <a:endParaRPr sz="2400" dirty="0">
                <a:latin typeface="SimSun"/>
                <a:ea typeface="SimSun"/>
                <a:cs typeface="SimSun"/>
              </a:endParaRPr>
            </a:p>
            <a:p>
              <a:pPr marL="723900" algn="l" rtl="0" eaLnBrk="0">
                <a:lnSpc>
                  <a:spcPct val="81000"/>
                </a:lnSpc>
                <a:spcBef>
                  <a:spcPts val="1543"/>
                </a:spcBef>
                <a:tabLst/>
              </a:pPr>
              <a:r>
                <a:rPr sz="2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Remove</a:t>
              </a:r>
              <a:r>
                <a:rPr sz="23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2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Books</a:t>
              </a:r>
              <a:endParaRPr sz="2300" dirty="0">
                <a:latin typeface="Arial"/>
                <a:ea typeface="Arial"/>
                <a:cs typeface="Arial"/>
              </a:endParaRPr>
            </a:p>
            <a:p>
              <a:pPr marL="475615" algn="l" rtl="0" eaLnBrk="0">
                <a:lnSpc>
                  <a:spcPts val="2453"/>
                </a:lnSpc>
                <a:tabLst/>
              </a:pPr>
              <a:r>
                <a:rPr sz="18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Delete</a:t>
              </a:r>
              <a:r>
                <a:rPr sz="1800" kern="0" spc="20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books from</a:t>
              </a:r>
              <a:r>
                <a:rPr sz="1800" kern="0" spc="20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li</a:t>
              </a:r>
              <a:r>
                <a:rPr sz="18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brary</a:t>
              </a:r>
              <a:endParaRPr sz="18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609600" y="3130539"/>
            <a:ext cx="3505200" cy="1447792"/>
            <a:chOff x="0" y="0"/>
            <a:chExt cx="3505200" cy="1447792"/>
          </a:xfrm>
        </p:grpSpPr>
        <p:pic>
          <p:nvPicPr>
            <p:cNvPr id="36" name="picture 3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3505200" cy="1447792"/>
            </a:xfrm>
            <a:prstGeom prst="rect">
              <a:avLst/>
            </a:prstGeom>
          </p:spPr>
        </p:pic>
        <p:sp>
          <p:nvSpPr>
            <p:cNvPr id="38" name="textbox 38"/>
            <p:cNvSpPr/>
            <p:nvPr/>
          </p:nvSpPr>
          <p:spPr>
            <a:xfrm>
              <a:off x="-12700" y="-12700"/>
              <a:ext cx="3530600" cy="14732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812800" algn="l" rtl="0" eaLnBrk="0">
                <a:lnSpc>
                  <a:spcPct val="82000"/>
                </a:lnSpc>
                <a:spcBef>
                  <a:spcPts val="5"/>
                </a:spcBef>
                <a:tabLst/>
              </a:pPr>
              <a:r>
                <a:rPr sz="2300" b="1" kern="0" spc="-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Borrow</a:t>
              </a:r>
              <a:r>
                <a:rPr sz="2300" b="1" kern="0" spc="1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300" b="1" kern="0" spc="-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Books</a:t>
              </a:r>
              <a:endParaRPr sz="2300" dirty="0">
                <a:latin typeface="Arial"/>
                <a:ea typeface="Arial"/>
                <a:cs typeface="Arial"/>
              </a:endParaRPr>
            </a:p>
            <a:p>
              <a:pPr marL="298450" algn="l" rtl="0" eaLnBrk="0">
                <a:lnSpc>
                  <a:spcPts val="2453"/>
                </a:lnSpc>
                <a:spcBef>
                  <a:spcPts val="85"/>
                </a:spcBef>
                <a:tabLst/>
              </a:pPr>
              <a:r>
                <a:rPr sz="18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Check</a:t>
              </a:r>
              <a:r>
                <a:rPr sz="1800" kern="0" spc="1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out with</a:t>
              </a:r>
              <a:r>
                <a:rPr sz="1800" kern="0" spc="18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borrower</a:t>
              </a:r>
              <a:r>
                <a:rPr sz="1800" kern="0" spc="1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in</a:t>
              </a:r>
              <a:r>
                <a:rPr sz="18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fo</a:t>
              </a:r>
              <a:endParaRPr sz="18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40" name="textbox 40"/>
          <p:cNvSpPr/>
          <p:nvPr/>
        </p:nvSpPr>
        <p:spPr>
          <a:xfrm>
            <a:off x="4337060" y="1498610"/>
            <a:ext cx="3511550" cy="1441450"/>
          </a:xfrm>
          <a:prstGeom prst="rect">
            <a:avLst/>
          </a:prstGeom>
          <a:solidFill>
            <a:srgbClr val="22222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6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68450" algn="l" rtl="0" eaLnBrk="0">
              <a:lnSpc>
                <a:spcPct val="95000"/>
              </a:lnSpc>
              <a:tabLst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十</a:t>
            </a:r>
            <a:endParaRPr sz="2400" dirty="0">
              <a:latin typeface="SimSun"/>
              <a:ea typeface="SimSun"/>
              <a:cs typeface="SimSun"/>
            </a:endParaRPr>
          </a:p>
          <a:p>
            <a:pPr marL="1009014" algn="l" rtl="0" eaLnBrk="0">
              <a:lnSpc>
                <a:spcPct val="82000"/>
              </a:lnSpc>
              <a:spcBef>
                <a:spcPts val="1148"/>
              </a:spcBef>
              <a:tabLst/>
            </a:pPr>
            <a:r>
              <a:rPr sz="2300" b="1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Add</a:t>
            </a:r>
            <a:r>
              <a:rPr sz="2300" b="1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Books</a:t>
            </a:r>
            <a:endParaRPr sz="2300" dirty="0">
              <a:latin typeface="Arial"/>
              <a:ea typeface="Arial"/>
              <a:cs typeface="Arial"/>
            </a:endParaRPr>
          </a:p>
          <a:p>
            <a:pPr marL="329565" algn="l" rtl="0" eaLnBrk="0">
              <a:lnSpc>
                <a:spcPts val="2453"/>
              </a:lnSpc>
              <a:spcBef>
                <a:spcPts val="335"/>
              </a:spcBef>
              <a:tabLst/>
            </a:pPr>
            <a:r>
              <a:rPr sz="18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Add</a:t>
            </a:r>
            <a:r>
              <a:rPr sz="18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new</a:t>
            </a:r>
            <a:r>
              <a:rPr sz="18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books to</a:t>
            </a:r>
            <a:r>
              <a:rPr sz="18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collecti</a:t>
            </a:r>
            <a:r>
              <a:rPr sz="18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grpSp>
        <p:nvGrpSpPr>
          <p:cNvPr id="10" name="group 10"/>
          <p:cNvGrpSpPr/>
          <p:nvPr/>
        </p:nvGrpSpPr>
        <p:grpSpPr>
          <a:xfrm rot="21600000">
            <a:off x="4349739" y="3136917"/>
            <a:ext cx="3505200" cy="1441414"/>
            <a:chOff x="0" y="0"/>
            <a:chExt cx="3505200" cy="1441414"/>
          </a:xfrm>
        </p:grpSpPr>
        <p:pic>
          <p:nvPicPr>
            <p:cNvPr id="42" name="picture 4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3505200" cy="1441414"/>
            </a:xfrm>
            <a:prstGeom prst="rect">
              <a:avLst/>
            </a:prstGeom>
          </p:spPr>
        </p:pic>
        <p:sp>
          <p:nvSpPr>
            <p:cNvPr id="44" name="textbox 44"/>
            <p:cNvSpPr/>
            <p:nvPr/>
          </p:nvSpPr>
          <p:spPr>
            <a:xfrm>
              <a:off x="-12700" y="-12700"/>
              <a:ext cx="3530600" cy="14668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825500" algn="l" rtl="0" eaLnBrk="0">
                <a:lnSpc>
                  <a:spcPct val="82000"/>
                </a:lnSpc>
                <a:spcBef>
                  <a:spcPts val="6"/>
                </a:spcBef>
                <a:tabLst/>
              </a:pPr>
              <a:r>
                <a:rPr sz="23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Return</a:t>
              </a:r>
              <a:r>
                <a:rPr sz="2300" kern="0" spc="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23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Books</a:t>
              </a:r>
              <a:endParaRPr sz="2300" dirty="0">
                <a:latin typeface="Arial"/>
                <a:ea typeface="Arial"/>
                <a:cs typeface="Arial"/>
              </a:endParaRPr>
            </a:p>
            <a:p>
              <a:pPr marL="673100" algn="l" rtl="0" eaLnBrk="0">
                <a:lnSpc>
                  <a:spcPts val="2453"/>
                </a:lnSpc>
                <a:spcBef>
                  <a:spcPts val="285"/>
                </a:spcBef>
                <a:tabLst/>
              </a:pPr>
              <a:r>
                <a:rPr sz="1800" kern="0" spc="-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Process</a:t>
              </a:r>
              <a:r>
                <a:rPr sz="1800" kern="0" spc="39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-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book</a:t>
              </a:r>
              <a:r>
                <a:rPr sz="1800" kern="0" spc="35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-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returns</a:t>
              </a:r>
              <a:endParaRPr sz="18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21600000">
            <a:off x="596920" y="1511297"/>
            <a:ext cx="3517879" cy="1428727"/>
            <a:chOff x="0" y="0"/>
            <a:chExt cx="3517879" cy="1428727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3517879" cy="1428727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3543300" cy="14541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83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914400" algn="l" rtl="0" eaLnBrk="0">
                <a:lnSpc>
                  <a:spcPct val="82000"/>
                </a:lnSpc>
                <a:tabLst/>
              </a:pPr>
              <a:r>
                <a:rPr sz="2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View</a:t>
              </a:r>
              <a:r>
                <a:rPr sz="2300" kern="0" spc="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2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Library</a:t>
              </a:r>
              <a:endParaRPr sz="2300" dirty="0">
                <a:latin typeface="Arial"/>
                <a:ea typeface="Arial"/>
                <a:cs typeface="Arial"/>
              </a:endParaRPr>
            </a:p>
            <a:p>
              <a:pPr marL="335915" algn="l" rtl="0" eaLnBrk="0">
                <a:lnSpc>
                  <a:spcPts val="2453"/>
                </a:lnSpc>
                <a:spcBef>
                  <a:spcPts val="186"/>
                </a:spcBef>
                <a:tabLst/>
              </a:pPr>
              <a:r>
                <a:rPr sz="18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Display all</a:t>
              </a:r>
              <a:r>
                <a:rPr sz="1800" kern="0" spc="2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books with</a:t>
              </a:r>
              <a:r>
                <a:rPr sz="1800" kern="0" spc="1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status</a:t>
              </a:r>
              <a:endParaRPr sz="18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4305340" y="144568"/>
            <a:ext cx="3564890" cy="1136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09114" algn="l" rtl="0" eaLnBrk="0">
              <a:lnSpc>
                <a:spcPts val="3011"/>
              </a:lnSpc>
              <a:tabLst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</a:t>
            </a:r>
            <a:endParaRPr sz="24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ct val="81000"/>
              </a:lnSpc>
              <a:spcBef>
                <a:spcPts val="1266"/>
              </a:spcBef>
              <a:tabLst/>
            </a:pPr>
            <a:r>
              <a:rPr sz="4600" b="1" kern="0" spc="-130" dirty="0">
                <a:solidFill>
                  <a:srgbClr val="10D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Key</a:t>
            </a:r>
            <a:r>
              <a:rPr sz="4600" b="1" kern="0" spc="340" dirty="0">
                <a:solidFill>
                  <a:srgbClr val="10D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600" b="1" kern="0" spc="-130" dirty="0">
                <a:solidFill>
                  <a:srgbClr val="10D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Features</a:t>
            </a:r>
            <a:endParaRPr sz="4600" dirty="0">
              <a:latin typeface="Arial"/>
              <a:ea typeface="Arial"/>
              <a:cs typeface="Arial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11429979" y="6439969"/>
            <a:ext cx="461009" cy="337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3"/>
              </a:lnSpc>
              <a:tabLst/>
            </a:pPr>
            <a:r>
              <a:rPr sz="18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3/15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 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32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6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93699" y="1981208"/>
            <a:ext cx="11049000" cy="3416311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7232639" y="3057215"/>
            <a:ext cx="3875404" cy="13931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6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14350" algn="l" rtl="0" eaLnBrk="0">
              <a:lnSpc>
                <a:spcPct val="82000"/>
              </a:lnSpc>
              <a:tabLst/>
            </a:pPr>
            <a:r>
              <a:rPr sz="2700" b="1" kern="0" spc="-100" dirty="0">
                <a:solidFill>
                  <a:srgbClr val="E09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Borrower </a:t>
            </a:r>
            <a:r>
              <a:rPr sz="2700" b="1" kern="0" spc="-100" dirty="0">
                <a:solidFill>
                  <a:srgbClr val="E0A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Structure</a:t>
            </a:r>
            <a:endParaRPr sz="2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7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602"/>
              </a:spcBef>
              <a:tabLst/>
            </a:pPr>
            <a:r>
              <a:rPr sz="2000" kern="0" spc="-60" dirty="0">
                <a:solidFill>
                  <a:srgbClr val="E0A02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·</a:t>
            </a:r>
            <a:r>
              <a:rPr sz="2000" b="1" kern="0" spc="-60" dirty="0">
                <a:solidFill>
                  <a:srgbClr val="E0A02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char</a:t>
            </a:r>
            <a:r>
              <a:rPr sz="2000" kern="0" spc="-60" dirty="0">
                <a:solidFill>
                  <a:srgbClr val="E0A02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b="1" kern="0" spc="-60" dirty="0">
                <a:solidFill>
                  <a:srgbClr val="E0A02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name[50]</a:t>
            </a:r>
            <a:r>
              <a:rPr sz="2000" kern="0" spc="-60" dirty="0">
                <a:solidFill>
                  <a:srgbClr val="E0A02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2000" kern="0" spc="-6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Borrower's name</a:t>
            </a:r>
            <a:endParaRPr sz="20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2794"/>
              </a:lnSpc>
              <a:spcBef>
                <a:spcPts val="208"/>
              </a:spcBef>
              <a:tabLst/>
            </a:pPr>
            <a:r>
              <a:rPr sz="2000" kern="0" spc="-10" dirty="0">
                <a:solidFill>
                  <a:srgbClr val="E0C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·int</a:t>
            </a:r>
            <a:r>
              <a:rPr sz="2000" kern="0" spc="270" dirty="0">
                <a:solidFill>
                  <a:srgbClr val="E0C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000" kern="0" spc="-10" dirty="0">
                <a:solidFill>
                  <a:srgbClr val="E0C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id                   </a:t>
            </a:r>
            <a:r>
              <a:rPr sz="18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Borrower</a:t>
            </a:r>
            <a:r>
              <a:rPr sz="1800" kern="0" spc="3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ID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3403620" y="2884334"/>
            <a:ext cx="2434589" cy="1924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521"/>
              </a:lnSpc>
              <a:tabLst/>
            </a:pPr>
            <a:r>
              <a:rPr sz="18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Unique</a:t>
            </a:r>
            <a:r>
              <a:rPr sz="1800" kern="0" spc="3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</a:t>
            </a:r>
            <a:r>
              <a:rPr sz="1800" kern="0" spc="2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identifier</a:t>
            </a:r>
            <a:endParaRPr sz="1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521"/>
              </a:lnSpc>
              <a:spcBef>
                <a:spcPts val="675"/>
              </a:spcBef>
              <a:tabLst/>
            </a:pPr>
            <a:r>
              <a:rPr sz="18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</a:t>
            </a:r>
            <a:r>
              <a:rPr sz="1800" kern="0" spc="3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title</a:t>
            </a:r>
            <a:endParaRPr sz="1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spcBef>
                <a:spcPts val="1261"/>
              </a:spcBef>
              <a:tabLst/>
            </a:pPr>
            <a:r>
              <a:rPr sz="18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Author</a:t>
            </a:r>
            <a:r>
              <a:rPr sz="1800" kern="0" spc="4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name</a:t>
            </a:r>
            <a:endParaRPr sz="1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1150"/>
              </a:spcBef>
              <a:tabLst/>
            </a:pPr>
            <a:r>
              <a:rPr sz="18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Publication</a:t>
            </a:r>
            <a:r>
              <a:rPr sz="1800" kern="0" spc="3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year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521"/>
              </a:lnSpc>
              <a:spcBef>
                <a:spcPts val="4"/>
              </a:spcBef>
              <a:tabLst/>
            </a:pPr>
            <a:r>
              <a:rPr sz="18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Availability</a:t>
            </a:r>
            <a:r>
              <a:rPr sz="18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status</a:t>
            </a:r>
            <a:r>
              <a:rPr sz="18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(1/0)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1003259" y="2876224"/>
            <a:ext cx="1905635" cy="19424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794"/>
              </a:lnSpc>
              <a:tabLst/>
            </a:pPr>
            <a:r>
              <a:rPr sz="2000" kern="0" spc="-30" dirty="0">
                <a:solidFill>
                  <a:srgbClr val="E0C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·int   id</a:t>
            </a:r>
            <a:endParaRPr sz="2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794"/>
              </a:lnSpc>
              <a:spcBef>
                <a:spcPts val="173"/>
              </a:spcBef>
              <a:tabLst/>
            </a:pPr>
            <a:r>
              <a:rPr sz="2000" kern="0" spc="0" dirty="0">
                <a:solidFill>
                  <a:srgbClr val="E0A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·char</a:t>
            </a:r>
            <a:r>
              <a:rPr sz="2000" kern="0" spc="110" dirty="0">
                <a:solidFill>
                  <a:srgbClr val="E0A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000" kern="0" spc="0" dirty="0">
                <a:solidFill>
                  <a:srgbClr val="E0A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title[100]</a:t>
            </a:r>
            <a:endParaRPr sz="2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794"/>
              </a:lnSpc>
              <a:spcBef>
                <a:spcPts val="306"/>
              </a:spcBef>
              <a:tabLst/>
            </a:pPr>
            <a:r>
              <a:rPr sz="2000" kern="0" spc="10" dirty="0">
                <a:solidFill>
                  <a:srgbClr val="E0A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2000" kern="0" spc="0" dirty="0">
                <a:solidFill>
                  <a:srgbClr val="E0A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char</a:t>
            </a:r>
            <a:r>
              <a:rPr sz="2000" kern="0" spc="10" dirty="0">
                <a:solidFill>
                  <a:srgbClr val="E0A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000" kern="0" spc="0" dirty="0">
                <a:solidFill>
                  <a:srgbClr val="E0A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author</a:t>
            </a:r>
            <a:r>
              <a:rPr sz="2000" kern="0" spc="10" dirty="0">
                <a:solidFill>
                  <a:srgbClr val="E0A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[50]</a:t>
            </a:r>
            <a:endParaRPr sz="2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794"/>
              </a:lnSpc>
              <a:spcBef>
                <a:spcPts val="283"/>
              </a:spcBef>
              <a:tabLst/>
            </a:pPr>
            <a:r>
              <a:rPr sz="2000" kern="0" spc="-20" dirty="0">
                <a:solidFill>
                  <a:srgbClr val="E0A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·int</a:t>
            </a:r>
            <a:r>
              <a:rPr sz="2000" kern="0" spc="130" dirty="0">
                <a:solidFill>
                  <a:srgbClr val="E0A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000" kern="0" spc="-20" dirty="0">
                <a:solidFill>
                  <a:srgbClr val="E0A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year</a:t>
            </a:r>
            <a:endParaRPr sz="2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794"/>
              </a:lnSpc>
              <a:spcBef>
                <a:spcPts val="362"/>
              </a:spcBef>
              <a:tabLst/>
            </a:pPr>
            <a:r>
              <a:rPr sz="2000" kern="0" spc="-10" dirty="0">
                <a:solidFill>
                  <a:srgbClr val="E0B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·i</a:t>
            </a:r>
            <a:r>
              <a:rPr sz="2000" kern="0" spc="340" dirty="0">
                <a:solidFill>
                  <a:srgbClr val="E0B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E0A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nt available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1955820" y="5758337"/>
            <a:ext cx="8250555" cy="346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521"/>
              </a:lnSpc>
              <a:tabLst/>
            </a:pPr>
            <a:r>
              <a:rPr sz="18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Nested structure design ena</a:t>
            </a:r>
            <a:r>
              <a:rPr sz="18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bles comprehensive book and</a:t>
            </a:r>
            <a:r>
              <a:rPr sz="18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borrower</a:t>
            </a:r>
            <a:r>
              <a:rPr sz="18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management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3975059" y="786767"/>
            <a:ext cx="4225290" cy="622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8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tabLst/>
            </a:pPr>
            <a:r>
              <a:rPr sz="4800" b="1" kern="0" spc="-180" dirty="0">
                <a:solidFill>
                  <a:srgbClr val="10D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 Struct</a:t>
            </a:r>
            <a:r>
              <a:rPr sz="4800" b="1" kern="0" spc="-190" dirty="0">
                <a:solidFill>
                  <a:srgbClr val="10D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ures</a:t>
            </a:r>
            <a:endParaRPr sz="4800" dirty="0">
              <a:latin typeface="Arial"/>
              <a:ea typeface="Arial"/>
              <a:cs typeface="Arial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1003259" y="4871415"/>
            <a:ext cx="4728209" cy="346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521"/>
              </a:lnSpc>
              <a:tabLst/>
            </a:pPr>
            <a:r>
              <a:rPr sz="1800" b="1" kern="0" spc="10" dirty="0">
                <a:solidFill>
                  <a:srgbClr val="E0A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·Borrower</a:t>
            </a:r>
            <a:r>
              <a:rPr sz="1800" b="1" kern="0" spc="230" dirty="0">
                <a:solidFill>
                  <a:srgbClr val="E0A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b="1" kern="0" spc="10" dirty="0">
                <a:solidFill>
                  <a:srgbClr val="E0A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borrower</a:t>
            </a:r>
            <a:r>
              <a:rPr sz="1800" b="1" kern="0" spc="450" dirty="0">
                <a:solidFill>
                  <a:srgbClr val="E0A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Nested</a:t>
            </a:r>
            <a:r>
              <a:rPr sz="1800" kern="0" spc="3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borrower</a:t>
            </a:r>
            <a:r>
              <a:rPr sz="1800" kern="0" spc="2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da</a:t>
            </a:r>
            <a:r>
              <a:rPr sz="18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ta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2298659" y="2250714"/>
            <a:ext cx="2317114" cy="361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6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tabLst/>
            </a:pPr>
            <a:r>
              <a:rPr sz="2700" b="1" kern="0" spc="-110" dirty="0">
                <a:solidFill>
                  <a:srgbClr val="10C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 Structure</a:t>
            </a:r>
            <a:endParaRPr sz="2700" dirty="0">
              <a:latin typeface="Arial"/>
              <a:ea typeface="Arial"/>
              <a:cs typeface="Arial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11455462" y="6439839"/>
            <a:ext cx="440690" cy="346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521"/>
              </a:lnSpc>
              <a:tabLst/>
            </a:pPr>
            <a:r>
              <a:rPr sz="18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4/15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15939" y="4076669"/>
            <a:ext cx="2654320" cy="1987585"/>
          </a:xfrm>
          <a:prstGeom prst="rect">
            <a:avLst/>
          </a:prstGeom>
        </p:spPr>
      </p:pic>
      <p:graphicFrame>
        <p:nvGraphicFramePr>
          <p:cNvPr id="78" name="table 78"/>
          <p:cNvGraphicFramePr>
            <a:graphicFrameLocks noGrp="1"/>
          </p:cNvGraphicFramePr>
          <p:nvPr/>
        </p:nvGraphicFramePr>
        <p:xfrm>
          <a:off x="615939" y="2291220"/>
          <a:ext cx="10741023" cy="3772533"/>
        </p:xfrm>
        <a:graphic>
          <a:graphicData uri="http://schemas.openxmlformats.org/drawingml/2006/table">
            <a:tbl>
              <a:tblPr/>
              <a:tblGrid>
                <a:gridCol w="270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9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6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94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0" algn="l" rtl="0" eaLnBrk="0">
                        <a:lnSpc>
                          <a:spcPct val="8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Arrays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0165" algn="l" rtl="0" eaLnBrk="0">
                        <a:lnSpc>
                          <a:spcPts val="2521"/>
                        </a:lnSpc>
                        <a:tabLst/>
                      </a:pP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Book</a:t>
                      </a:r>
                      <a:r>
                        <a:rPr sz="1800" kern="0" spc="2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library</a:t>
                      </a:r>
                      <a:r>
                        <a:rPr sz="1800" kern="0" spc="1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[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MAX</a:t>
                      </a:r>
                      <a:r>
                        <a:rPr sz="1800" kern="0" spc="1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_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BOOKS</a:t>
                      </a:r>
                      <a:r>
                        <a:rPr sz="1800" kern="0" spc="1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]-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stores</a:t>
                      </a:r>
                      <a:r>
                        <a:rPr sz="1800" kern="0" spc="1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collection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6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818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2300" b="1" kern="0" spc="-100" dirty="0">
                          <a:solidFill>
                            <a:srgbClr val="E0B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Key</a:t>
                      </a:r>
                      <a:r>
                        <a:rPr sz="2300" b="1" kern="0" spc="150" dirty="0">
                          <a:solidFill>
                            <a:srgbClr val="E0B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00" b="1" kern="0" spc="-100" dirty="0">
                          <a:solidFill>
                            <a:srgbClr val="E0B01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Benefits</a:t>
                      </a:r>
                      <a:endParaRPr sz="2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3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0"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18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Structures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165" algn="l" rtl="0" eaLnBrk="0">
                        <a:lnSpc>
                          <a:spcPts val="2521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struct</a:t>
                      </a:r>
                      <a:r>
                        <a:rPr sz="1800" kern="0" spc="2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Book with</a:t>
                      </a:r>
                      <a:r>
                        <a:rPr sz="1800" kern="0" spc="2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nested struct</a:t>
                      </a:r>
                      <a:r>
                        <a:rPr sz="1800" kern="0" spc="2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Borrower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1795" algn="l" rtl="0" eaLnBrk="0">
                        <a:lnSpc>
                          <a:spcPts val="2471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Memory</a:t>
                      </a:r>
                      <a:r>
                        <a:rPr sz="1800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safe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5630" algn="l" rtl="0" eaLnBrk="0">
                        <a:lnSpc>
                          <a:spcPts val="2471"/>
                        </a:lnSpc>
                        <a:tabLst/>
                      </a:pPr>
                      <a:r>
                        <a:rPr sz="18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implementation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1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27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0" algn="l" rtl="0" eaLnBrk="0">
                        <a:lnSpc>
                          <a:spcPct val="82000"/>
                        </a:lnSpc>
                        <a:tabLst/>
                      </a:pP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Pointers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165" algn="l" rtl="0" eaLnBrk="0">
                        <a:lnSpc>
                          <a:spcPts val="2521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Efficient</a:t>
                      </a:r>
                      <a:r>
                        <a:rPr sz="1800" kern="0" spc="1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  <a:r>
                        <a:rPr sz="1800" kern="0" spc="2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handling</a:t>
                      </a:r>
                      <a:r>
                        <a:rPr sz="1800" kern="0" spc="1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  <a:r>
                        <a:rPr sz="1800" kern="0" spc="1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dat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r>
                        <a:rPr sz="1800" kern="0" spc="1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access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1795" algn="l" rtl="0" eaLnBrk="0">
                        <a:lnSpc>
                          <a:spcPts val="246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Modular</a:t>
                      </a:r>
                      <a:r>
                        <a:rPr sz="1800" kern="0" spc="1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2460"/>
                        </a:lnSpc>
                        <a:tabLst/>
                      </a:pPr>
                      <a:r>
                        <a:rPr sz="18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maintainable</a:t>
                      </a:r>
                      <a:r>
                        <a:rPr sz="1800" kern="0" spc="3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code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0"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18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Loops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165" algn="l" rtl="0" eaLnBrk="0">
                        <a:lnSpc>
                          <a:spcPts val="2521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Menu</a:t>
                      </a:r>
                      <a:r>
                        <a:rPr sz="1800" kern="0" spc="2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system</a:t>
                      </a:r>
                      <a:r>
                        <a:rPr sz="1800" kern="0" spc="1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  <a:r>
                        <a:rPr sz="1800" kern="0" spc="1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data</a:t>
                      </a:r>
                      <a:r>
                        <a:rPr sz="1800" kern="0" spc="2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iteration</a:t>
                      </a:r>
                      <a:r>
                        <a:rPr sz="1800" kern="0" spc="2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for</a:t>
                      </a:r>
                      <a:r>
                        <a:rPr sz="1800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while</a:t>
                      </a:r>
                      <a:r>
                        <a:rPr sz="1800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1795" algn="l" rtl="0" eaLnBrk="0">
                        <a:lnSpc>
                          <a:spcPts val="231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Real</a:t>
                      </a:r>
                      <a:r>
                        <a:rPr sz="18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world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5630" algn="l" rtl="0" eaLnBrk="0">
                        <a:lnSpc>
                          <a:spcPts val="2265"/>
                        </a:lnSpc>
                        <a:tabLst/>
                      </a:pP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application</a:t>
                      </a:r>
                      <a:r>
                        <a:rPr sz="1800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46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29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0" algn="l" rtl="0" eaLnBrk="0">
                        <a:lnSpc>
                          <a:spcPct val="82000"/>
                        </a:lnSpc>
                        <a:tabLst/>
                      </a:pP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Functions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31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165" algn="l" rtl="0" eaLnBrk="0">
                        <a:lnSpc>
                          <a:spcPts val="2521"/>
                        </a:lnSpc>
                        <a:tabLst/>
                      </a:pP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Modular</a:t>
                      </a:r>
                      <a:r>
                        <a:rPr sz="18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design</a:t>
                      </a:r>
                      <a:r>
                        <a:rPr sz="18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: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add</a:t>
                      </a:r>
                      <a:r>
                        <a:rPr sz="18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_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book</a:t>
                      </a:r>
                      <a:r>
                        <a:rPr sz="18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(),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search</a:t>
                      </a:r>
                      <a:r>
                        <a:rPr sz="18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_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by</a:t>
                      </a:r>
                      <a:r>
                        <a:rPr sz="18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_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name</a:t>
                      </a:r>
                      <a:r>
                        <a:rPr sz="18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()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63244" algn="l" rtl="0" eaLnBrk="0">
                        <a:lnSpc>
                          <a:spcPts val="2521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theory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7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0" algn="l" rtl="0" eaLnBrk="0">
                        <a:lnSpc>
                          <a:spcPct val="8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  <a:r>
                        <a:rPr sz="1800" kern="0" spc="4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Manipulation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165" algn="l" rtl="0" eaLnBrk="0">
                        <a:lnSpc>
                          <a:spcPts val="2521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fgets</a:t>
                      </a:r>
                      <a:r>
                        <a:rPr sz="1800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(),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strcasecmp</a:t>
                      </a:r>
                      <a:r>
                        <a:rPr sz="1800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()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for</a:t>
                      </a:r>
                      <a:r>
                        <a:rPr sz="1800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safe</a:t>
                      </a:r>
                      <a:r>
                        <a:rPr sz="1800" kern="0" spc="1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0" name="textbox 80"/>
          <p:cNvSpPr/>
          <p:nvPr/>
        </p:nvSpPr>
        <p:spPr>
          <a:xfrm>
            <a:off x="609600" y="1384287"/>
            <a:ext cx="8026400" cy="641984"/>
          </a:xfrm>
          <a:prstGeom prst="rect">
            <a:avLst/>
          </a:prstGeom>
          <a:solidFill>
            <a:srgbClr val="22222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93115" algn="l" rtl="0" eaLnBrk="0">
              <a:lnSpc>
                <a:spcPct val="82000"/>
              </a:lnSpc>
              <a:spcBef>
                <a:spcPts val="4"/>
              </a:spcBef>
              <a:tabLst/>
            </a:pPr>
            <a:r>
              <a:rPr sz="2300" b="1" kern="0" spc="-90" dirty="0">
                <a:solidFill>
                  <a:srgbClr val="E0A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Conc</a:t>
            </a:r>
            <a:r>
              <a:rPr sz="2300" b="1" kern="0" spc="-9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ept</a:t>
            </a:r>
            <a:r>
              <a:rPr sz="2300" b="1" kern="0" spc="1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</a:t>
            </a:r>
            <a:r>
              <a:rPr sz="2300" b="1" kern="0" spc="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</a:t>
            </a:r>
            <a:r>
              <a:rPr sz="2300" b="1" kern="0" spc="-90" dirty="0">
                <a:solidFill>
                  <a:srgbClr val="E0A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Implementation </a:t>
            </a:r>
            <a:r>
              <a:rPr sz="2300" b="1" kern="0" spc="-90" dirty="0">
                <a:solidFill>
                  <a:srgbClr val="E0A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Example</a:t>
            </a:r>
            <a:endParaRPr sz="2300" dirty="0">
              <a:latin typeface="Arial"/>
              <a:ea typeface="Arial"/>
              <a:cs typeface="Arial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2228799" y="587177"/>
            <a:ext cx="7722869" cy="5594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spcBef>
                <a:spcPts val="1"/>
              </a:spcBef>
              <a:tabLst/>
            </a:pPr>
            <a:r>
              <a:rPr sz="4300" b="1" kern="0" spc="-180" dirty="0">
                <a:solidFill>
                  <a:srgbClr val="10D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4300" b="1" kern="0" spc="210" dirty="0">
                <a:solidFill>
                  <a:srgbClr val="10D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300" b="1" kern="0" spc="-180" dirty="0">
                <a:solidFill>
                  <a:srgbClr val="10D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Programming Co</a:t>
            </a:r>
            <a:r>
              <a:rPr sz="4300" b="1" kern="0" spc="-190" dirty="0">
                <a:solidFill>
                  <a:srgbClr val="10D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ncepts</a:t>
            </a:r>
            <a:r>
              <a:rPr sz="4300" b="1" kern="0" spc="210" dirty="0">
                <a:solidFill>
                  <a:srgbClr val="10D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300" b="1" kern="0" spc="-190" dirty="0">
                <a:solidFill>
                  <a:srgbClr val="10D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Used</a:t>
            </a:r>
            <a:endParaRPr sz="4300" dirty="0">
              <a:latin typeface="Arial"/>
              <a:ea typeface="Arial"/>
              <a:cs typeface="Arial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11480820" y="6427152"/>
            <a:ext cx="434340" cy="346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521"/>
              </a:lnSpc>
              <a:tabLst/>
            </a:pPr>
            <a:r>
              <a:rPr sz="18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5/15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 8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4" name="group 14"/>
          <p:cNvGrpSpPr/>
          <p:nvPr/>
        </p:nvGrpSpPr>
        <p:grpSpPr>
          <a:xfrm rot="21600000">
            <a:off x="4089440" y="1301717"/>
            <a:ext cx="4159178" cy="4965740"/>
            <a:chOff x="0" y="0"/>
            <a:chExt cx="4159178" cy="4965740"/>
          </a:xfrm>
        </p:grpSpPr>
        <p:pic>
          <p:nvPicPr>
            <p:cNvPr id="88" name="picture 8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159178" cy="4965740"/>
            </a:xfrm>
            <a:prstGeom prst="rect">
              <a:avLst/>
            </a:prstGeom>
          </p:spPr>
        </p:pic>
        <p:sp>
          <p:nvSpPr>
            <p:cNvPr id="90" name="textbox 90"/>
            <p:cNvSpPr/>
            <p:nvPr/>
          </p:nvSpPr>
          <p:spPr>
            <a:xfrm>
              <a:off x="-12700" y="-12700"/>
              <a:ext cx="4184650" cy="49917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07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003300" algn="l" rtl="0" eaLnBrk="0">
                <a:lnSpc>
                  <a:spcPct val="81000"/>
                </a:lnSpc>
                <a:tabLst/>
              </a:pPr>
              <a:r>
                <a:rPr sz="2100" b="1" kern="0" spc="-5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Program Startup</a:t>
              </a:r>
              <a:endParaRPr sz="21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021714" algn="l" rtl="0" eaLnBrk="0">
                <a:lnSpc>
                  <a:spcPct val="80000"/>
                </a:lnSpc>
                <a:spcBef>
                  <a:spcPts val="637"/>
                </a:spcBef>
                <a:tabLst/>
              </a:pPr>
              <a:r>
                <a:rPr sz="2100" b="1" kern="0" spc="-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Initialize</a:t>
              </a:r>
              <a:r>
                <a:rPr sz="2100" b="1" kern="0" spc="1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100" b="1" kern="0" spc="-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</a:t>
              </a:r>
              <a:r>
                <a:rPr sz="2100" b="1" kern="0" spc="-5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ibrary</a:t>
              </a:r>
              <a:endParaRPr sz="2100" dirty="0">
                <a:latin typeface="Arial"/>
                <a:ea typeface="Arial"/>
                <a:cs typeface="Arial"/>
              </a:endParaRPr>
            </a:p>
            <a:p>
              <a:pPr marL="1003300" algn="l" rtl="0" eaLnBrk="0">
                <a:lnSpc>
                  <a:spcPts val="1840"/>
                </a:lnSpc>
                <a:spcBef>
                  <a:spcPts val="168"/>
                </a:spcBef>
                <a:tabLst/>
              </a:pPr>
              <a:r>
                <a:rPr sz="1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Load</a:t>
              </a:r>
              <a:r>
                <a:rPr sz="13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10  </a:t>
              </a:r>
              <a:r>
                <a:rPr sz="1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preloaded</a:t>
              </a:r>
              <a:r>
                <a:rPr sz="13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books</a:t>
              </a:r>
              <a:endParaRPr sz="13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4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4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869314" algn="l" rtl="0" eaLnBrk="0">
                <a:lnSpc>
                  <a:spcPct val="80000"/>
                </a:lnSpc>
                <a:spcBef>
                  <a:spcPts val="637"/>
                </a:spcBef>
                <a:tabLst/>
              </a:pPr>
              <a:r>
                <a:rPr sz="2100" b="1" kern="0" spc="-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Display</a:t>
              </a:r>
              <a:r>
                <a:rPr sz="2100" b="1" kern="0" spc="1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100" b="1" kern="0" spc="-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Main</a:t>
              </a:r>
              <a:r>
                <a:rPr sz="2100" b="1" kern="0" spc="1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100" b="1" kern="0" spc="-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</a:t>
              </a:r>
              <a:r>
                <a:rPr sz="2100" b="1" kern="0" spc="-8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enu</a:t>
              </a:r>
              <a:endParaRPr sz="2100" dirty="0">
                <a:latin typeface="Arial"/>
                <a:ea typeface="Arial"/>
                <a:cs typeface="Arial"/>
              </a:endParaRPr>
            </a:p>
            <a:p>
              <a:pPr marL="1021714" algn="l" rtl="0" eaLnBrk="0">
                <a:lnSpc>
                  <a:spcPts val="1840"/>
                </a:lnSpc>
                <a:spcBef>
                  <a:spcPts val="68"/>
                </a:spcBef>
                <a:tabLst/>
              </a:pPr>
              <a:r>
                <a:rPr sz="13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Show</a:t>
              </a:r>
              <a:r>
                <a:rPr sz="1300" kern="0" spc="3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3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8</a:t>
              </a:r>
              <a:r>
                <a:rPr sz="1300" kern="0" spc="29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3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available</a:t>
              </a:r>
              <a:r>
                <a:rPr sz="1300" kern="0" spc="29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3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options</a:t>
              </a:r>
              <a:endParaRPr sz="13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735965" algn="l" rtl="0" eaLnBrk="0">
                <a:lnSpc>
                  <a:spcPct val="76000"/>
                </a:lnSpc>
                <a:spcBef>
                  <a:spcPts val="636"/>
                </a:spcBef>
                <a:tabLst/>
              </a:pPr>
              <a:r>
                <a:rPr sz="2100" b="1" kern="0" spc="-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Process</a:t>
              </a:r>
              <a:r>
                <a:rPr sz="2100" b="1" kern="0" spc="20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100" b="1" kern="0" spc="-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User Choice</a:t>
              </a:r>
              <a:endParaRPr sz="2100" dirty="0">
                <a:latin typeface="Arial"/>
                <a:ea typeface="Arial"/>
                <a:cs typeface="Arial"/>
              </a:endParaRPr>
            </a:p>
            <a:p>
              <a:pPr marL="850900" algn="l" rtl="0" eaLnBrk="0">
                <a:lnSpc>
                  <a:spcPts val="1840"/>
                </a:lnSpc>
                <a:tabLst/>
              </a:pPr>
              <a:r>
                <a:rPr sz="13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Validate</a:t>
              </a:r>
              <a:r>
                <a:rPr sz="1300" kern="0" spc="28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3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and</a:t>
              </a:r>
              <a:r>
                <a:rPr sz="1300" kern="0" spc="30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3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execute</a:t>
              </a:r>
              <a:r>
                <a:rPr sz="1300" kern="0" spc="2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3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function</a:t>
              </a:r>
              <a:endParaRPr sz="13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964564" algn="l" rtl="0" eaLnBrk="0">
                <a:lnSpc>
                  <a:spcPct val="71000"/>
                </a:lnSpc>
                <a:spcBef>
                  <a:spcPts val="631"/>
                </a:spcBef>
                <a:tabLst/>
              </a:pPr>
              <a:r>
                <a:rPr sz="2100" b="1" kern="0" spc="-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Execute</a:t>
              </a:r>
              <a:r>
                <a:rPr sz="2100" b="1" kern="0" spc="19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100" b="1" kern="0" spc="-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Function</a:t>
              </a:r>
              <a:endParaRPr sz="2100" dirty="0">
                <a:latin typeface="Arial"/>
                <a:ea typeface="Arial"/>
                <a:cs typeface="Arial"/>
              </a:endParaRPr>
            </a:p>
            <a:p>
              <a:pPr marL="869314" algn="l" rtl="0" eaLnBrk="0">
                <a:lnSpc>
                  <a:spcPts val="1840"/>
                </a:lnSpc>
                <a:tabLst/>
              </a:pPr>
              <a:r>
                <a:rPr sz="13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Perform</a:t>
              </a:r>
              <a:r>
                <a:rPr sz="1300" kern="0" spc="1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3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requested</a:t>
              </a:r>
              <a:r>
                <a:rPr sz="1300" kern="0" spc="10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3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operation</a:t>
              </a:r>
              <a:endParaRPr sz="13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92" name="textbox 92"/>
          <p:cNvSpPr/>
          <p:nvPr/>
        </p:nvSpPr>
        <p:spPr>
          <a:xfrm>
            <a:off x="4171960" y="596564"/>
            <a:ext cx="3778250" cy="5956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8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tabLst/>
            </a:pPr>
            <a:r>
              <a:rPr sz="4600" b="1" kern="0" spc="-150" dirty="0">
                <a:solidFill>
                  <a:srgbClr val="10C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</a:t>
            </a:r>
            <a:r>
              <a:rPr sz="4600" b="1" kern="0" spc="-140" dirty="0">
                <a:solidFill>
                  <a:srgbClr val="10C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gram</a:t>
            </a:r>
            <a:r>
              <a:rPr sz="4600" b="1" kern="0" spc="290" dirty="0">
                <a:solidFill>
                  <a:srgbClr val="10C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600" b="1" kern="0" spc="-140" dirty="0">
                <a:solidFill>
                  <a:srgbClr val="10C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Fl</a:t>
            </a:r>
            <a:r>
              <a:rPr sz="4600" b="1" kern="0" spc="-150" dirty="0">
                <a:solidFill>
                  <a:srgbClr val="10C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4600" b="1" kern="0" spc="-10" dirty="0">
                <a:solidFill>
                  <a:srgbClr val="10C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w</a:t>
            </a:r>
            <a:endParaRPr sz="4600" dirty="0">
              <a:latin typeface="Arial"/>
              <a:ea typeface="Arial"/>
              <a:cs typeface="Arial"/>
            </a:endParaRPr>
          </a:p>
        </p:txBody>
      </p:sp>
      <p:grpSp>
        <p:nvGrpSpPr>
          <p:cNvPr id="16" name="group 16"/>
          <p:cNvGrpSpPr/>
          <p:nvPr/>
        </p:nvGrpSpPr>
        <p:grpSpPr>
          <a:xfrm rot="21600000">
            <a:off x="9594859" y="3213110"/>
            <a:ext cx="2114580" cy="895312"/>
            <a:chOff x="0" y="0"/>
            <a:chExt cx="2114580" cy="895312"/>
          </a:xfrm>
        </p:grpSpPr>
        <p:pic>
          <p:nvPicPr>
            <p:cNvPr id="94" name="picture 9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114580" cy="895312"/>
            </a:xfrm>
            <a:prstGeom prst="rect">
              <a:avLst/>
            </a:prstGeom>
          </p:spPr>
        </p:pic>
        <p:sp>
          <p:nvSpPr>
            <p:cNvPr id="96" name="textbox 96"/>
            <p:cNvSpPr/>
            <p:nvPr/>
          </p:nvSpPr>
          <p:spPr>
            <a:xfrm>
              <a:off x="-12700" y="-12700"/>
              <a:ext cx="2140585" cy="9277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94614" algn="l" rtl="0" eaLnBrk="0">
                <a:lnSpc>
                  <a:spcPct val="90000"/>
                </a:lnSpc>
                <a:spcBef>
                  <a:spcPts val="6"/>
                </a:spcBef>
                <a:tabLst/>
              </a:pPr>
              <a:r>
                <a:rPr sz="1900" b="1" kern="0" spc="-60" dirty="0">
                  <a:solidFill>
                    <a:srgbClr val="E0B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Continuous</a:t>
              </a:r>
              <a:r>
                <a:rPr sz="1900" b="1" kern="0" spc="140" dirty="0">
                  <a:solidFill>
                    <a:srgbClr val="E0B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900" b="1" kern="0" spc="-60" dirty="0">
                  <a:solidFill>
                    <a:srgbClr val="E0B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Loop</a:t>
              </a:r>
              <a:endParaRPr sz="1900" dirty="0">
                <a:latin typeface="Arial"/>
                <a:ea typeface="Arial"/>
                <a:cs typeface="Arial"/>
              </a:endParaRPr>
            </a:p>
            <a:p>
              <a:pPr marL="94614" algn="l" rtl="0" eaLnBrk="0">
                <a:lnSpc>
                  <a:spcPct val="117000"/>
                </a:lnSpc>
                <a:spcBef>
                  <a:spcPts val="42"/>
                </a:spcBef>
                <a:tabLst/>
              </a:pPr>
              <a:r>
                <a:rPr sz="1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Program</a:t>
              </a:r>
              <a:r>
                <a:rPr sz="1300" kern="0" spc="40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runs</a:t>
              </a:r>
              <a:r>
                <a:rPr sz="1300" kern="0" spc="3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until</a:t>
              </a:r>
              <a:r>
                <a:rPr sz="1300" kern="0" spc="3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user     selects</a:t>
              </a:r>
              <a:r>
                <a:rPr sz="1300" kern="0" spc="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exit</a:t>
              </a:r>
              <a:r>
                <a:rPr sz="1300" kern="0" spc="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option</a:t>
              </a:r>
              <a:endParaRPr sz="13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98" name="textbox 98"/>
          <p:cNvSpPr/>
          <p:nvPr/>
        </p:nvSpPr>
        <p:spPr>
          <a:xfrm>
            <a:off x="8280420" y="4752829"/>
            <a:ext cx="1334769" cy="2279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3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Loop</a:t>
            </a:r>
            <a:r>
              <a:rPr sz="16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Until</a:t>
            </a:r>
            <a:r>
              <a:rPr sz="16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Ex</a:t>
            </a: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it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11499839" y="6529375"/>
            <a:ext cx="424180" cy="229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6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6/15</a:t>
            </a:r>
            <a:endParaRPr sz="16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587405" y="1387490"/>
          <a:ext cx="10985500" cy="4723765"/>
        </p:xfrm>
        <a:graphic>
          <a:graphicData uri="http://schemas.openxmlformats.org/drawingml/2006/table">
            <a:tbl>
              <a:tblPr/>
              <a:tblGrid>
                <a:gridCol w="307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8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92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3919" algn="l" rtl="0" eaLnBrk="0">
                        <a:lnSpc>
                          <a:spcPct val="80000"/>
                        </a:lnSpc>
                        <a:tabLst/>
                      </a:pPr>
                      <a:r>
                        <a:rPr sz="2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Function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90344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2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Purpose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3894" algn="l" rtl="0" eaLnBrk="0">
                        <a:lnSpc>
                          <a:spcPct val="9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C</a:t>
                      </a:r>
                      <a:r>
                        <a:rPr sz="2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Concept</a:t>
                      </a:r>
                      <a:r>
                        <a:rPr sz="2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Used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89" algn="l" rtl="0" eaLnBrk="0">
                        <a:lnSpc>
                          <a:spcPct val="9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5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main</a:t>
                      </a:r>
                      <a:r>
                        <a:rPr sz="25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()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100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Program entry po</a:t>
                      </a:r>
                      <a:r>
                        <a:rPr sz="2100" kern="0" spc="-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int</a:t>
                      </a:r>
                      <a:r>
                        <a:rPr sz="21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100" kern="0" spc="-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and menu</a:t>
                      </a:r>
                      <a:r>
                        <a:rPr sz="2100" kern="0" spc="1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100" kern="0" spc="-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loop</a:t>
                      </a:r>
                      <a:endParaRPr sz="2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500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Control structures,loops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4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500" kern="0" spc="-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initialize_library()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914" algn="l" rtl="0" eaLnBrk="0">
                        <a:lnSpc>
                          <a:spcPct val="9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5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Sets</a:t>
                      </a:r>
                      <a:r>
                        <a:rPr sz="25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up</a:t>
                      </a:r>
                      <a:r>
                        <a:rPr sz="2500" kern="0" spc="3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initial</a:t>
                      </a:r>
                      <a:r>
                        <a:rPr sz="2500" kern="0" spc="1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book</a:t>
                      </a:r>
                      <a:r>
                        <a:rPr sz="2500" kern="0" spc="2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data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8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5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Arrays,structures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89" algn="l" rtl="0" eaLnBrk="0">
                        <a:lnSpc>
                          <a:spcPct val="9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5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add</a:t>
                      </a:r>
                      <a:r>
                        <a:rPr sz="2500" u="dotted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kern="0" spc="-11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book</a:t>
                      </a:r>
                      <a:r>
                        <a:rPr sz="25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()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14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5000"/>
                        </a:lnSpc>
                        <a:tabLst/>
                      </a:pPr>
                      <a:r>
                        <a:rPr sz="2500" kern="0" spc="-1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Add</a:t>
                      </a:r>
                      <a:r>
                        <a:rPr sz="2500" kern="0" spc="-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 new books</a:t>
                      </a:r>
                      <a:r>
                        <a:rPr sz="25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kern="0" spc="-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to</a:t>
                      </a:r>
                      <a:r>
                        <a:rPr sz="25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kern="0" spc="-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collecti</a:t>
                      </a:r>
                      <a:r>
                        <a:rPr sz="2500" kern="0" spc="-1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o</a:t>
                      </a:r>
                      <a:r>
                        <a:rPr sz="2500" kern="0" spc="-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n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300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Structures,string</a:t>
                      </a:r>
                      <a:r>
                        <a:rPr sz="2300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handling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89" algn="l" rtl="0" eaLnBrk="0">
                        <a:lnSpc>
                          <a:spcPct val="9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5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borrow</a:t>
                      </a:r>
                      <a:r>
                        <a:rPr sz="2500" u="dotted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kern="0" spc="-11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book</a:t>
                      </a:r>
                      <a:r>
                        <a:rPr sz="25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()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300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Manages b</a:t>
                      </a:r>
                      <a:r>
                        <a:rPr sz="2300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ook borrowing process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200" kern="0" spc="-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Nes</a:t>
                      </a:r>
                      <a:r>
                        <a:rPr sz="2200" kern="0" spc="-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ted structures,validat</a:t>
                      </a:r>
                      <a:r>
                        <a:rPr sz="2200" kern="0" spc="-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io</a:t>
                      </a:r>
                      <a:r>
                        <a:rPr sz="2200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n</a:t>
                      </a:r>
                      <a:endParaRPr sz="2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300" kern="0" spc="-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bubble_sort_</a:t>
                      </a:r>
                      <a:r>
                        <a:rPr sz="2300" kern="0" spc="-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by_title()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5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Sorts</a:t>
                      </a:r>
                      <a:r>
                        <a:rPr sz="25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books</a:t>
                      </a:r>
                      <a:r>
                        <a:rPr sz="25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alphabetically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200" kern="0" spc="-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Alg</a:t>
                      </a:r>
                      <a:r>
                        <a:rPr sz="2200" kern="0" spc="-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orithms,string compari</a:t>
                      </a:r>
                      <a:r>
                        <a:rPr sz="2200" kern="0" spc="-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so</a:t>
                      </a:r>
                      <a:r>
                        <a:rPr sz="2200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n</a:t>
                      </a:r>
                      <a:endParaRPr sz="2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89" algn="l" rtl="0" eaLnBrk="0">
                        <a:lnSpc>
                          <a:spcPct val="9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5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search</a:t>
                      </a:r>
                      <a:r>
                        <a:rPr sz="2500" u="dotted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kern="0" spc="-12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by</a:t>
                      </a:r>
                      <a:r>
                        <a:rPr sz="2500" u="dotted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kern="0" spc="-11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name</a:t>
                      </a:r>
                      <a:r>
                        <a:rPr sz="25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()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5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Finds boo</a:t>
                      </a:r>
                      <a:r>
                        <a:rPr sz="2500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ks by title/author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400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String man</a:t>
                      </a:r>
                      <a:r>
                        <a:rPr sz="2400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ipulation,loops</a:t>
                      </a:r>
                      <a:endParaRPr sz="2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89" algn="l" rtl="0" eaLnBrk="0">
                        <a:lnSpc>
                          <a:spcPct val="9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5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search</a:t>
                      </a:r>
                      <a:r>
                        <a:rPr sz="2500" u="dotted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kern="0" spc="-11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by</a:t>
                      </a:r>
                      <a:r>
                        <a:rPr sz="2500" u="dotted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kern="0" spc="-9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id</a:t>
                      </a:r>
                      <a:r>
                        <a:rPr sz="25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()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5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Locates books by</a:t>
                      </a:r>
                      <a:r>
                        <a:rPr sz="2500" kern="0" spc="2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ID number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9000"/>
                        </a:lnSpc>
                        <a:tabLst/>
                      </a:pPr>
                      <a:r>
                        <a:rPr sz="2300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Linear search,conditionals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89" algn="l" rtl="0" eaLnBrk="0">
                        <a:lnSpc>
                          <a:spcPct val="94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5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get</a:t>
                      </a:r>
                      <a:r>
                        <a:rPr sz="2500" u="dotted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kern="0" spc="-10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safe</a:t>
                      </a:r>
                      <a:r>
                        <a:rPr sz="2500" u="dotted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kern="0" spc="-9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int()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914" algn="l" rtl="0" eaLnBrk="0">
                        <a:lnSpc>
                          <a:spcPct val="9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5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Validates</a:t>
                      </a:r>
                      <a:r>
                        <a:rPr sz="2500" kern="0" spc="4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integer</a:t>
                      </a:r>
                      <a:r>
                        <a:rPr sz="2500" kern="0" spc="4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i</a:t>
                      </a:r>
                      <a:r>
                        <a:rPr sz="25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nput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6000"/>
                        </a:lnSpc>
                        <a:tabLst/>
                      </a:pPr>
                      <a:r>
                        <a:rPr sz="2100" kern="0" spc="-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I</a:t>
                      </a:r>
                      <a:r>
                        <a:rPr sz="2100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nput handli</a:t>
                      </a:r>
                      <a:r>
                        <a:rPr sz="2100" kern="0" spc="-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ng,error checkin</a:t>
                      </a:r>
                      <a:r>
                        <a:rPr sz="2100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g</a:t>
                      </a:r>
                      <a:endParaRPr sz="2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6" name="textbox 106"/>
          <p:cNvSpPr/>
          <p:nvPr/>
        </p:nvSpPr>
        <p:spPr>
          <a:xfrm>
            <a:off x="3556020" y="639755"/>
            <a:ext cx="5067934" cy="6140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tabLst/>
            </a:pPr>
            <a:r>
              <a:rPr sz="4700" b="1" kern="0" spc="-150" dirty="0">
                <a:solidFill>
                  <a:srgbClr val="10D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Function Over</a:t>
            </a:r>
            <a:r>
              <a:rPr sz="4700" b="1" kern="0" spc="-140" dirty="0">
                <a:solidFill>
                  <a:srgbClr val="10D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vie</a:t>
            </a:r>
            <a:r>
              <a:rPr sz="4700" b="1" kern="0" spc="-10" dirty="0">
                <a:solidFill>
                  <a:srgbClr val="10D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w</a:t>
            </a:r>
            <a:endParaRPr sz="4700" dirty="0">
              <a:latin typeface="Arial"/>
              <a:ea typeface="Arial"/>
              <a:cs typeface="Arial"/>
            </a:endParaRPr>
          </a:p>
        </p:txBody>
      </p:sp>
      <p:sp>
        <p:nvSpPr>
          <p:cNvPr id="108" name="textbox 108"/>
          <p:cNvSpPr/>
          <p:nvPr/>
        </p:nvSpPr>
        <p:spPr>
          <a:xfrm>
            <a:off x="11461801" y="6528037"/>
            <a:ext cx="456565" cy="257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9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19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7/15</a:t>
            </a:r>
            <a:endParaRPr sz="19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picture 1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12" name="textbox 112"/>
          <p:cNvSpPr/>
          <p:nvPr/>
        </p:nvSpPr>
        <p:spPr>
          <a:xfrm>
            <a:off x="1936800" y="308788"/>
            <a:ext cx="6891655" cy="21678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4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tabLst/>
            </a:pPr>
            <a:r>
              <a:rPr sz="4400" b="1" kern="0" spc="-200" dirty="0">
                <a:solidFill>
                  <a:srgbClr val="10C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Bubble Sort Algorithm</a:t>
            </a:r>
            <a:endParaRPr sz="4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78765" algn="l" rtl="0" eaLnBrk="0">
              <a:lnSpc>
                <a:spcPct val="86000"/>
              </a:lnSpc>
              <a:spcBef>
                <a:spcPts val="752"/>
              </a:spcBef>
              <a:tabLst/>
            </a:pPr>
            <a:r>
              <a:rPr sz="2500" b="1" kern="0" spc="-70" dirty="0">
                <a:solidFill>
                  <a:srgbClr val="E0A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Before</a:t>
            </a:r>
            <a:r>
              <a:rPr sz="2500" b="1" kern="0" spc="370" dirty="0">
                <a:solidFill>
                  <a:srgbClr val="E0A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b="1" kern="0" spc="-70" dirty="0">
                <a:solidFill>
                  <a:srgbClr val="E0A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Sorti</a:t>
            </a:r>
            <a:r>
              <a:rPr sz="2500" b="1" kern="0" spc="-80" dirty="0">
                <a:solidFill>
                  <a:srgbClr val="E0A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ng</a:t>
            </a:r>
            <a:endParaRPr sz="2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9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1465" algn="l" rtl="0" eaLnBrk="0">
              <a:lnSpc>
                <a:spcPct val="80000"/>
              </a:lnSpc>
              <a:spcBef>
                <a:spcPts val="517"/>
              </a:spcBef>
              <a:tabLst/>
            </a:pPr>
            <a:r>
              <a:rPr sz="17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Applied</a:t>
            </a:r>
            <a:r>
              <a:rPr sz="1700" b="1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</a:t>
            </a:r>
            <a:r>
              <a:rPr sz="2600" b="1" kern="0" spc="-20" baseline="-4006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r>
              <a:rPr sz="16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17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Algorithm</a:t>
            </a:r>
            <a:endParaRPr sz="1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347"/>
              </a:spcBef>
              <a:tabLst/>
            </a:pPr>
            <a:r>
              <a:rPr sz="17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Cryptography</a:t>
            </a:r>
            <a:r>
              <a:rPr sz="17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700" b="1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Structure</a:t>
            </a:r>
            <a:r>
              <a:rPr sz="1700" b="1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1700" b="1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1700" b="1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Design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114" name="textbox 114"/>
          <p:cNvSpPr/>
          <p:nvPr/>
        </p:nvSpPr>
        <p:spPr>
          <a:xfrm>
            <a:off x="933399" y="4746862"/>
            <a:ext cx="5873750" cy="14185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400" algn="l" rtl="0" eaLnBrk="0">
              <a:lnSpc>
                <a:spcPct val="80000"/>
              </a:lnSpc>
              <a:tabLst/>
            </a:pPr>
            <a:r>
              <a:rPr sz="1900" b="1" kern="0" spc="-20" dirty="0">
                <a:solidFill>
                  <a:srgbClr val="E0A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Code Samp</a:t>
            </a:r>
            <a:r>
              <a:rPr sz="1900" b="1" kern="0" spc="-30" dirty="0">
                <a:solidFill>
                  <a:srgbClr val="E0A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le:</a:t>
            </a:r>
            <a:endParaRPr sz="1900" dirty="0">
              <a:latin typeface="Arial"/>
              <a:ea typeface="Arial"/>
              <a:cs typeface="Arial"/>
            </a:endParaRPr>
          </a:p>
          <a:p>
            <a:pPr marL="552450" indent="-539750" algn="l" rtl="0" eaLnBrk="0">
              <a:lnSpc>
                <a:spcPct val="77000"/>
              </a:lnSpc>
              <a:spcBef>
                <a:spcPts val="6"/>
              </a:spcBef>
              <a:tabLst/>
            </a:pPr>
            <a:r>
              <a:rPr sz="2400" kern="0" spc="-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for(int</a:t>
            </a:r>
            <a:r>
              <a:rPr sz="24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2400" kern="0" spc="-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24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2400" kern="0" spc="-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=0;i&lt;count-1;i++){</a:t>
            </a:r>
            <a:r>
              <a:rPr sz="2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</a:t>
            </a:r>
            <a:r>
              <a:rPr sz="22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for(intj=0;j&lt;cou</a:t>
            </a:r>
            <a:r>
              <a:rPr sz="22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nt-i-1;j++){</a:t>
            </a:r>
            <a:endParaRPr sz="2200" dirty="0">
              <a:latin typeface="Arial"/>
              <a:ea typeface="Arial"/>
              <a:cs typeface="Arial"/>
            </a:endParaRPr>
          </a:p>
          <a:p>
            <a:pPr marL="1651000" indent="-533400" algn="l" rtl="0" eaLnBrk="0">
              <a:lnSpc>
                <a:spcPct val="104000"/>
              </a:lnSpc>
              <a:spcBef>
                <a:spcPts val="25"/>
              </a:spcBef>
              <a:tabLst/>
            </a:pPr>
            <a:r>
              <a:rPr sz="22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if(strcmp(temp[</a:t>
            </a:r>
            <a:r>
              <a:rPr sz="22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j].title,temp[j+1].title)&gt;0) 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swap(&amp;temp[</a:t>
            </a:r>
            <a:r>
              <a:rPr sz="17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j],&amp;temp[j+1]);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116" name="textbox 116"/>
          <p:cNvSpPr/>
          <p:nvPr/>
        </p:nvSpPr>
        <p:spPr>
          <a:xfrm>
            <a:off x="584240" y="3244863"/>
            <a:ext cx="5264150" cy="996950"/>
          </a:xfrm>
          <a:prstGeom prst="rect">
            <a:avLst/>
          </a:prstGeom>
          <a:solidFill>
            <a:srgbClr val="333E3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66264" algn="l" rtl="0" eaLnBrk="0">
              <a:lnSpc>
                <a:spcPct val="80000"/>
              </a:lnSpc>
              <a:spcBef>
                <a:spcPts val="7"/>
              </a:spcBef>
              <a:tabLst/>
            </a:pPr>
            <a:r>
              <a:rPr sz="2200" b="1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Key</a:t>
            </a:r>
            <a:r>
              <a:rPr sz="2200" b="1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Feature</a:t>
            </a:r>
            <a:endParaRPr sz="2200" dirty="0">
              <a:latin typeface="Arial"/>
              <a:ea typeface="Arial"/>
              <a:cs typeface="Arial"/>
            </a:endParaRPr>
          </a:p>
          <a:p>
            <a:pPr marL="278765" algn="l" rtl="0" eaLnBrk="0">
              <a:lnSpc>
                <a:spcPts val="2317"/>
              </a:lnSpc>
              <a:spcBef>
                <a:spcPts val="464"/>
              </a:spcBef>
              <a:tabLst/>
            </a:pPr>
            <a:r>
              <a:rPr sz="17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Sorts   TEMPORARY</a:t>
            </a:r>
            <a:r>
              <a:rPr sz="17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7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copy,original    unchange</a:t>
            </a:r>
            <a:r>
              <a:rPr sz="17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118" name="textbox 118"/>
          <p:cNvSpPr/>
          <p:nvPr/>
        </p:nvSpPr>
        <p:spPr>
          <a:xfrm>
            <a:off x="7575601" y="2868673"/>
            <a:ext cx="2554604" cy="11703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93700" algn="l" rtl="0" eaLnBrk="0">
              <a:lnSpc>
                <a:spcPct val="83000"/>
              </a:lnSpc>
              <a:tabLst/>
            </a:pPr>
            <a:r>
              <a:rPr sz="2600" b="1" kern="0" spc="-80" dirty="0">
                <a:solidFill>
                  <a:srgbClr val="E09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After </a:t>
            </a:r>
            <a:r>
              <a:rPr sz="2600" b="1" kern="0" spc="-80" dirty="0">
                <a:solidFill>
                  <a:srgbClr val="E0A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Sortin</a:t>
            </a:r>
            <a:r>
              <a:rPr sz="2600" b="1" kern="0" spc="-80" dirty="0">
                <a:solidFill>
                  <a:srgbClr val="E0C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g</a:t>
            </a:r>
            <a:endParaRPr sz="2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9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7815" algn="l" rtl="0" eaLnBrk="0">
              <a:lnSpc>
                <a:spcPct val="80000"/>
              </a:lnSpc>
              <a:spcBef>
                <a:spcPts val="522"/>
              </a:spcBef>
              <a:tabLst/>
            </a:pPr>
            <a:r>
              <a:rPr sz="1700" b="1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Applied</a:t>
            </a:r>
            <a:r>
              <a:rPr sz="1700" b="1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</a:t>
            </a:r>
            <a:r>
              <a:rPr sz="1700" b="1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endParaRPr sz="1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326"/>
              </a:spcBef>
              <a:tabLst/>
            </a:pPr>
            <a:r>
              <a:rPr sz="1700" b="1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Cryptography</a:t>
            </a:r>
            <a:r>
              <a:rPr sz="1700" b="1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600" kern="0" spc="-30" baseline="-4006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Stru</a:t>
            </a:r>
            <a:r>
              <a:rPr sz="2600" kern="0" spc="-40" baseline="-4006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ctures</a:t>
            </a:r>
            <a:endParaRPr sz="2600" baseline="-4006" dirty="0">
              <a:latin typeface="Arial"/>
              <a:ea typeface="Arial"/>
              <a:cs typeface="Arial"/>
            </a:endParaRPr>
          </a:p>
        </p:txBody>
      </p:sp>
      <p:sp>
        <p:nvSpPr>
          <p:cNvPr id="120" name="textbox 120"/>
          <p:cNvSpPr/>
          <p:nvPr/>
        </p:nvSpPr>
        <p:spPr>
          <a:xfrm>
            <a:off x="6337259" y="3538052"/>
            <a:ext cx="1010919" cy="507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3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0179" indent="-158114" algn="l" rtl="0" eaLnBrk="0">
              <a:lnSpc>
                <a:spcPct val="95000"/>
              </a:lnSpc>
              <a:tabLst/>
            </a:pPr>
            <a:r>
              <a:rPr sz="1700" b="1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Algorithm</a:t>
            </a:r>
            <a:r>
              <a:rPr sz="1700" b="1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Design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122" name="textbox 122"/>
          <p:cNvSpPr/>
          <p:nvPr/>
        </p:nvSpPr>
        <p:spPr>
          <a:xfrm>
            <a:off x="850859" y="1988693"/>
            <a:ext cx="719455" cy="505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329" rIns="0" bIns="0"/>
          <a:lstStyle/>
          <a:p>
            <a:pPr marL="69850" indent="-57150" algn="l" rtl="0" eaLnBrk="0">
              <a:lnSpc>
                <a:spcPct val="95000"/>
              </a:lnSpc>
              <a:spcBef>
                <a:spcPts val="3"/>
              </a:spcBef>
              <a:tabLst/>
            </a:pPr>
            <a:r>
              <a:rPr sz="1700" b="1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Python</a:t>
            </a:r>
            <a:r>
              <a:rPr sz="1700" b="1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Guide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10604459" y="3550739"/>
            <a:ext cx="680719" cy="505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398" rIns="0" bIns="0"/>
          <a:lstStyle/>
          <a:p>
            <a:pPr marL="69850" indent="-57150" algn="l" rtl="0" eaLnBrk="0">
              <a:lnSpc>
                <a:spcPct val="95000"/>
              </a:lnSpc>
              <a:spcBef>
                <a:spcPts val="3"/>
              </a:spcBef>
              <a:tabLst/>
            </a:pPr>
            <a:r>
              <a:rPr sz="17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Python</a:t>
            </a:r>
            <a:r>
              <a:rPr sz="17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Guide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11468140" y="6478907"/>
            <a:ext cx="436880" cy="3200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317"/>
              </a:lnSpc>
              <a:tabLst/>
            </a:pPr>
            <a:r>
              <a:rPr sz="17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8/15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 1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32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30" name="picture 1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87359" y="1816067"/>
            <a:ext cx="489021" cy="482665"/>
          </a:xfrm>
          <a:prstGeom prst="rect">
            <a:avLst/>
          </a:prstGeom>
        </p:spPr>
      </p:pic>
      <p:sp>
        <p:nvSpPr>
          <p:cNvPr id="132" name="textbox 132"/>
          <p:cNvSpPr/>
          <p:nvPr/>
        </p:nvSpPr>
        <p:spPr>
          <a:xfrm>
            <a:off x="793800" y="1883834"/>
            <a:ext cx="4539615" cy="24371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2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3400" kern="0" spc="-12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Q  </a:t>
            </a:r>
            <a:r>
              <a:rPr sz="3400" b="1" kern="0" spc="-12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Search</a:t>
            </a:r>
            <a:r>
              <a:rPr sz="3400" b="1" kern="0" spc="14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400" b="1" kern="0" spc="-12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sz="3400" b="1" kern="0" spc="-13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y</a:t>
            </a:r>
            <a:r>
              <a:rPr sz="3400" b="1" kern="0" spc="17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400" b="1" kern="0" spc="-13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Name</a:t>
            </a:r>
            <a:endParaRPr sz="3400" dirty="0">
              <a:latin typeface="Arial"/>
              <a:ea typeface="Arial"/>
              <a:cs typeface="Arial"/>
            </a:endParaRPr>
          </a:p>
          <a:p>
            <a:pPr marL="665480" indent="-234315" algn="l" rtl="0" eaLnBrk="0">
              <a:lnSpc>
                <a:spcPct val="110000"/>
              </a:lnSpc>
              <a:spcBef>
                <a:spcPts val="1367"/>
              </a:spcBef>
              <a:tabLst/>
            </a:pPr>
            <a:r>
              <a:rPr sz="23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Case</a:t>
            </a:r>
            <a:r>
              <a:rPr sz="23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insensitive</a:t>
            </a:r>
            <a:r>
              <a:rPr sz="23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partial         matching</a:t>
            </a:r>
            <a:endParaRPr sz="2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203"/>
              </a:lnSpc>
              <a:spcBef>
                <a:spcPts val="679"/>
              </a:spcBef>
              <a:tabLst/>
            </a:pPr>
            <a:r>
              <a:rPr sz="23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Searches</a:t>
            </a:r>
            <a:r>
              <a:rPr sz="23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through</a:t>
            </a:r>
            <a:r>
              <a:rPr sz="23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</a:t>
            </a:r>
            <a:r>
              <a:rPr sz="23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titles</a:t>
            </a:r>
            <a:endParaRPr sz="2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431165" algn="l" rtl="0" eaLnBrk="0">
              <a:lnSpc>
                <a:spcPts val="3203"/>
              </a:lnSpc>
              <a:spcBef>
                <a:spcPts val="6"/>
              </a:spcBef>
              <a:tabLst/>
            </a:pPr>
            <a:r>
              <a:rPr sz="2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</a:t>
            </a:r>
            <a:r>
              <a:rPr sz="2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friendly</a:t>
            </a:r>
            <a:r>
              <a:rPr sz="23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text</a:t>
            </a:r>
            <a:r>
              <a:rPr sz="23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input</a:t>
            </a:r>
            <a:endParaRPr sz="2300" dirty="0">
              <a:latin typeface="Arial"/>
              <a:ea typeface="Arial"/>
              <a:cs typeface="Arial"/>
            </a:endParaRPr>
          </a:p>
        </p:txBody>
      </p:sp>
      <p:pic>
        <p:nvPicPr>
          <p:cNvPr id="134" name="picture 1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38980" y="1816067"/>
            <a:ext cx="495239" cy="488975"/>
          </a:xfrm>
          <a:prstGeom prst="rect">
            <a:avLst/>
          </a:prstGeom>
        </p:spPr>
      </p:pic>
      <p:sp>
        <p:nvSpPr>
          <p:cNvPr id="136" name="textbox 136"/>
          <p:cNvSpPr/>
          <p:nvPr/>
        </p:nvSpPr>
        <p:spPr>
          <a:xfrm>
            <a:off x="6845300" y="1881577"/>
            <a:ext cx="3815715" cy="2060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5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3200" kern="0" spc="-5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Q</a:t>
            </a:r>
            <a:r>
              <a:rPr sz="3200" kern="0" spc="14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3200" b="1" kern="0" spc="-5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Search</a:t>
            </a:r>
            <a:r>
              <a:rPr sz="3200" b="1" kern="0" spc="20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5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by</a:t>
            </a:r>
            <a:r>
              <a:rPr sz="3200" b="1" kern="0" spc="21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5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3200" b="1" kern="0" spc="-6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endParaRPr sz="3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203"/>
              </a:lnSpc>
              <a:spcBef>
                <a:spcPts val="1398"/>
              </a:spcBef>
              <a:tabLst/>
            </a:pPr>
            <a:r>
              <a:rPr sz="2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·Direct</a:t>
            </a:r>
            <a:r>
              <a:rPr sz="2300" kern="0" spc="2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numeric</a:t>
            </a:r>
            <a:r>
              <a:rPr sz="2300" kern="0" spc="2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lookup</a:t>
            </a:r>
            <a:endParaRPr sz="2300" dirty="0">
              <a:latin typeface="Arial"/>
              <a:ea typeface="Arial"/>
              <a:cs typeface="Arial"/>
            </a:endParaRPr>
          </a:p>
          <a:p>
            <a:pPr marL="666750" algn="l" rtl="0" eaLnBrk="0">
              <a:lnSpc>
                <a:spcPts val="3203"/>
              </a:lnSpc>
              <a:spcBef>
                <a:spcPts val="821"/>
              </a:spcBef>
              <a:tabLst/>
            </a:pPr>
            <a:r>
              <a:rPr sz="23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·Exact</a:t>
            </a:r>
            <a:r>
              <a:rPr sz="23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3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ID</a:t>
            </a:r>
            <a:r>
              <a:rPr sz="23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3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matching</a:t>
            </a:r>
            <a:endParaRPr sz="2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596900" algn="l" rtl="0" eaLnBrk="0">
              <a:lnSpc>
                <a:spcPts val="3203"/>
              </a:lnSpc>
              <a:spcBef>
                <a:spcPts val="5"/>
              </a:spcBef>
              <a:tabLst/>
            </a:pPr>
            <a:r>
              <a:rPr sz="2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·Fast</a:t>
            </a:r>
            <a:r>
              <a:rPr sz="2300" kern="0" spc="2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retrieval</a:t>
            </a:r>
            <a:r>
              <a:rPr sz="2300" kern="0" spc="2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method</a:t>
            </a:r>
            <a:endParaRPr sz="2300" dirty="0">
              <a:latin typeface="Arial"/>
              <a:ea typeface="Arial"/>
              <a:cs typeface="Arial"/>
            </a:endParaRPr>
          </a:p>
        </p:txBody>
      </p:sp>
      <p:grpSp>
        <p:nvGrpSpPr>
          <p:cNvPr id="18" name="group 18"/>
          <p:cNvGrpSpPr/>
          <p:nvPr/>
        </p:nvGrpSpPr>
        <p:grpSpPr>
          <a:xfrm rot="21600000">
            <a:off x="4006900" y="4635527"/>
            <a:ext cx="4178197" cy="1587489"/>
            <a:chOff x="0" y="0"/>
            <a:chExt cx="4178197" cy="1587489"/>
          </a:xfrm>
        </p:grpSpPr>
        <p:pic>
          <p:nvPicPr>
            <p:cNvPr id="138" name="picture 13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4178197" cy="1587489"/>
            </a:xfrm>
            <a:prstGeom prst="rect">
              <a:avLst/>
            </a:prstGeom>
          </p:spPr>
        </p:pic>
        <p:sp>
          <p:nvSpPr>
            <p:cNvPr id="140" name="textbox 140"/>
            <p:cNvSpPr/>
            <p:nvPr/>
          </p:nvSpPr>
          <p:spPr>
            <a:xfrm>
              <a:off x="-12700" y="-12700"/>
              <a:ext cx="4203700" cy="16205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67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93700" algn="l" rtl="0" eaLnBrk="0">
                <a:lnSpc>
                  <a:spcPct val="83000"/>
                </a:lnSpc>
                <a:tabLst/>
              </a:pPr>
              <a:r>
                <a:rPr sz="2300" b="1" kern="0" spc="-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Case-Insensitive</a:t>
              </a:r>
              <a:r>
                <a:rPr sz="2300" b="1" kern="0" spc="18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300" b="1" kern="0" spc="-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Example</a:t>
              </a:r>
              <a:endParaRPr sz="2300" dirty="0">
                <a:latin typeface="Arial"/>
                <a:ea typeface="Arial"/>
                <a:cs typeface="Arial"/>
              </a:endParaRPr>
            </a:p>
            <a:p>
              <a:pPr marL="1003300" algn="l" rtl="0" eaLnBrk="0">
                <a:lnSpc>
                  <a:spcPts val="2726"/>
                </a:lnSpc>
                <a:spcBef>
                  <a:spcPts val="706"/>
                </a:spcBef>
                <a:tabLst/>
              </a:pPr>
              <a:r>
                <a:rPr sz="20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User   In</a:t>
              </a:r>
              <a:r>
                <a:rPr sz="20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put:“crypto”</a:t>
              </a:r>
              <a:endParaRPr sz="2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5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34950" algn="l" rtl="0" eaLnBrk="0">
                <a:lnSpc>
                  <a:spcPct val="81000"/>
                </a:lnSpc>
                <a:spcBef>
                  <a:spcPts val="6"/>
                </a:spcBef>
                <a:tabLst/>
              </a:pPr>
              <a:r>
                <a:rPr sz="20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Matches:“Applied</a:t>
              </a:r>
              <a:r>
                <a:rPr sz="2000" kern="0" spc="20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20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Cryptography”</a:t>
              </a:r>
              <a:endParaRPr sz="20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42" name="textbox 142"/>
          <p:cNvSpPr/>
          <p:nvPr/>
        </p:nvSpPr>
        <p:spPr>
          <a:xfrm>
            <a:off x="3041639" y="663963"/>
            <a:ext cx="6080759" cy="689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2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4000"/>
              </a:lnSpc>
              <a:tabLst/>
            </a:pPr>
            <a:r>
              <a:rPr sz="5200" b="1" kern="0" spc="-210" dirty="0">
                <a:solidFill>
                  <a:srgbClr val="10C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Search</a:t>
            </a:r>
            <a:r>
              <a:rPr sz="5200" b="1" kern="0" spc="300" dirty="0">
                <a:solidFill>
                  <a:srgbClr val="10C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200" b="1" kern="0" spc="-210" dirty="0">
                <a:solidFill>
                  <a:srgbClr val="10C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Funct</a:t>
            </a:r>
            <a:r>
              <a:rPr sz="5200" b="1" kern="0" spc="-200" dirty="0">
                <a:solidFill>
                  <a:srgbClr val="10C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ionalit</a:t>
            </a:r>
            <a:r>
              <a:rPr sz="5200" b="1" kern="0" spc="-90" dirty="0">
                <a:solidFill>
                  <a:srgbClr val="10C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y</a:t>
            </a:r>
            <a:endParaRPr sz="5200" dirty="0">
              <a:latin typeface="Arial"/>
              <a:ea typeface="Arial"/>
              <a:cs typeface="Arial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11436318" y="6438902"/>
            <a:ext cx="509269" cy="372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725"/>
              </a:lnSpc>
              <a:tabLst/>
            </a:pP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9/15</a:t>
            </a:r>
            <a:endParaRPr sz="20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1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148" name="picture 1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57219" y="1993894"/>
            <a:ext cx="10496580" cy="2813083"/>
          </a:xfrm>
          <a:prstGeom prst="rect">
            <a:avLst/>
          </a:prstGeom>
        </p:spPr>
      </p:pic>
      <p:graphicFrame>
        <p:nvGraphicFramePr>
          <p:cNvPr id="150" name="table 150"/>
          <p:cNvGraphicFramePr>
            <a:graphicFrameLocks noGrp="1"/>
          </p:cNvGraphicFramePr>
          <p:nvPr/>
        </p:nvGraphicFramePr>
        <p:xfrm>
          <a:off x="2139940" y="2181880"/>
          <a:ext cx="9109709" cy="2545079"/>
        </p:xfrm>
        <a:graphic>
          <a:graphicData uri="http://schemas.openxmlformats.org/drawingml/2006/table">
            <a:tbl>
              <a:tblPr/>
              <a:tblGrid>
                <a:gridCol w="3351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8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1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25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Security</a:t>
                      </a:r>
                      <a:r>
                        <a:rPr sz="2500" b="1" kern="0" spc="1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Prob</a:t>
                      </a:r>
                      <a:r>
                        <a:rPr sz="2500" b="1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lem</a:t>
                      </a:r>
                      <a:endParaRPr sz="2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311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02435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25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LibeManage</a:t>
                      </a:r>
                      <a:r>
                        <a:rPr sz="25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Solution</a:t>
                      </a:r>
                      <a:endParaRPr sz="2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17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19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Buffer</a:t>
                      </a:r>
                      <a:r>
                        <a:rPr sz="1900" kern="0" spc="3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Overflow</a:t>
                      </a:r>
                      <a:r>
                        <a:rPr sz="1900" kern="0" spc="2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Attack</a:t>
                      </a:r>
                      <a:r>
                        <a:rPr sz="19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endParaRPr sz="1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99869" algn="l" rtl="0" eaLnBrk="0">
                        <a:lnSpc>
                          <a:spcPts val="2657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9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fgets</a:t>
                      </a:r>
                      <a:r>
                        <a:rPr sz="1900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()</a:t>
                      </a:r>
                      <a:r>
                        <a:rPr sz="19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instead</a:t>
                      </a:r>
                      <a:r>
                        <a:rPr sz="1900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9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</a:t>
                      </a:r>
                      <a:r>
                        <a:rPr sz="1900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9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unsafe</a:t>
                      </a:r>
                      <a:r>
                        <a:rPr sz="1900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9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gets</a:t>
                      </a:r>
                      <a:r>
                        <a:rPr sz="1900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()</a:t>
                      </a:r>
                      <a:endParaRPr sz="1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2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6550" algn="l" rtl="0" eaLnBrk="0">
                        <a:lnSpc>
                          <a:spcPts val="2657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9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Invalid</a:t>
                      </a:r>
                      <a:r>
                        <a:rPr sz="1900" kern="0" spc="4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User</a:t>
                      </a:r>
                      <a:r>
                        <a:rPr sz="1900" kern="0" spc="4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sz="19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nput</a:t>
                      </a:r>
                      <a:endParaRPr sz="1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56335" algn="l" rtl="0" eaLnBrk="0">
                        <a:lnSpc>
                          <a:spcPts val="265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9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  <a:r>
                        <a:rPr sz="1900" kern="0" spc="3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loops</a:t>
                      </a:r>
                      <a:r>
                        <a:rPr sz="1900" kern="0" spc="2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with</a:t>
                      </a:r>
                      <a:r>
                        <a:rPr sz="1900" kern="0" spc="3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error</a:t>
                      </a:r>
                      <a:r>
                        <a:rPr sz="1900" kern="0" spc="3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messag</a:t>
                      </a:r>
                      <a:r>
                        <a:rPr sz="19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es</a:t>
                      </a:r>
                      <a:endParaRPr sz="1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7965" algn="l" rtl="0" eaLnBrk="0">
                        <a:lnSpc>
                          <a:spcPts val="2657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9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Integer</a:t>
                      </a:r>
                      <a:r>
                        <a:rPr sz="1900" kern="0" spc="4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  <a:r>
                        <a:rPr sz="1900" kern="0" spc="4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Errors</a:t>
                      </a:r>
                      <a:endParaRPr sz="1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2657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9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get</a:t>
                      </a:r>
                      <a:r>
                        <a:rPr sz="1900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_</a:t>
                      </a:r>
                      <a:r>
                        <a:rPr sz="19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safe</a:t>
                      </a:r>
                      <a:r>
                        <a:rPr sz="1900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_</a:t>
                      </a:r>
                      <a:r>
                        <a:rPr sz="19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int</a:t>
                      </a:r>
                      <a:r>
                        <a:rPr sz="1900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()</a:t>
                      </a:r>
                      <a:r>
                        <a:rPr sz="19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function</a:t>
                      </a:r>
                      <a:r>
                        <a:rPr sz="1900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9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with</a:t>
                      </a:r>
                      <a:r>
                        <a:rPr sz="1900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9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bounds</a:t>
                      </a:r>
                      <a:r>
                        <a:rPr sz="1900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9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checking</a:t>
                      </a:r>
                      <a:endParaRPr sz="1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7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2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250" algn="l" rtl="0" eaLnBrk="0">
                        <a:lnSpc>
                          <a:spcPct val="84000"/>
                        </a:lnSpc>
                        <a:tabLst/>
                      </a:pPr>
                      <a:r>
                        <a:rPr sz="19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Memory</a:t>
                      </a:r>
                      <a:r>
                        <a:rPr sz="1900" kern="0" spc="2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9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Corruption</a:t>
                      </a:r>
                      <a:endParaRPr sz="1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19835" algn="l" rtl="0" eaLnBrk="0">
                        <a:lnSpc>
                          <a:spcPts val="2603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9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Static</a:t>
                      </a:r>
                      <a:r>
                        <a:rPr sz="1900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9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arrays</a:t>
                      </a:r>
                      <a:r>
                        <a:rPr sz="1900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,</a:t>
                      </a:r>
                      <a:r>
                        <a:rPr sz="19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  <a:r>
                        <a:rPr sz="1900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9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dynamic</a:t>
                      </a:r>
                      <a:r>
                        <a:rPr sz="1900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9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allocation</a:t>
                      </a:r>
                      <a:endParaRPr sz="1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2" name="textbox 152"/>
          <p:cNvSpPr/>
          <p:nvPr/>
        </p:nvSpPr>
        <p:spPr>
          <a:xfrm>
            <a:off x="2781340" y="596214"/>
            <a:ext cx="6626225" cy="11264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tabLst/>
            </a:pPr>
            <a:r>
              <a:rPr sz="4700" b="1" kern="0" spc="-100" dirty="0">
                <a:solidFill>
                  <a:srgbClr val="10C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4700" b="1" kern="0" spc="-90" dirty="0">
                <a:solidFill>
                  <a:srgbClr val="10C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nput Validation &amp;Safet</a:t>
            </a:r>
            <a:r>
              <a:rPr sz="4700" b="1" kern="0" spc="-80" dirty="0">
                <a:solidFill>
                  <a:srgbClr val="10C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y</a:t>
            </a:r>
            <a:endParaRPr sz="4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123314" algn="l" rtl="0" eaLnBrk="0">
              <a:lnSpc>
                <a:spcPct val="83000"/>
              </a:lnSpc>
              <a:spcBef>
                <a:spcPts val="6"/>
              </a:spcBef>
              <a:tabLst/>
            </a:pPr>
            <a:r>
              <a:rPr sz="2900" b="1" kern="0" spc="-4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Zero Crashes Guar</a:t>
            </a:r>
            <a:r>
              <a:rPr sz="2900" b="1" kern="0" spc="-5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anteed</a:t>
            </a:r>
            <a:endParaRPr sz="2900" dirty="0">
              <a:latin typeface="Arial"/>
              <a:ea typeface="Arial"/>
              <a:cs typeface="Arial"/>
            </a:endParaRPr>
          </a:p>
        </p:txBody>
      </p:sp>
      <p:grpSp>
        <p:nvGrpSpPr>
          <p:cNvPr id="20" name="group 20"/>
          <p:cNvGrpSpPr/>
          <p:nvPr/>
        </p:nvGrpSpPr>
        <p:grpSpPr>
          <a:xfrm rot="21600000">
            <a:off x="1911339" y="5365767"/>
            <a:ext cx="8388339" cy="641360"/>
            <a:chOff x="0" y="0"/>
            <a:chExt cx="8388339" cy="641360"/>
          </a:xfrm>
        </p:grpSpPr>
        <p:pic>
          <p:nvPicPr>
            <p:cNvPr id="154" name="picture 15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8388339" cy="641360"/>
            </a:xfrm>
            <a:prstGeom prst="rect">
              <a:avLst/>
            </a:prstGeom>
          </p:spPr>
        </p:pic>
        <p:sp>
          <p:nvSpPr>
            <p:cNvPr id="156" name="textbox 156"/>
            <p:cNvSpPr/>
            <p:nvPr/>
          </p:nvSpPr>
          <p:spPr>
            <a:xfrm>
              <a:off x="-12700" y="-12700"/>
              <a:ext cx="8413750" cy="6762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21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28600" algn="l" rtl="0" eaLnBrk="0">
                <a:lnSpc>
                  <a:spcPct val="81000"/>
                </a:lnSpc>
                <a:tabLst/>
              </a:pPr>
              <a:r>
                <a:rPr sz="2500" b="1" kern="0" spc="-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Result:Robust,crash-free</a:t>
              </a:r>
              <a:r>
                <a:rPr sz="2500" b="1" kern="0" spc="2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500" b="1" kern="0" spc="-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library management system</a:t>
              </a:r>
              <a:endParaRPr sz="25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58" name="textbox 158"/>
          <p:cNvSpPr/>
          <p:nvPr/>
        </p:nvSpPr>
        <p:spPr>
          <a:xfrm>
            <a:off x="11360119" y="6464635"/>
            <a:ext cx="617855" cy="363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657"/>
              </a:lnSpc>
              <a:tabLst/>
            </a:pPr>
            <a:r>
              <a:rPr sz="19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10/15</a:t>
            </a:r>
            <a:endParaRPr sz="19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picture 1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 rot="21600000">
            <a:off x="863559" y="1841510"/>
            <a:ext cx="4699040" cy="1816067"/>
            <a:chOff x="0" y="0"/>
            <a:chExt cx="4699040" cy="1816067"/>
          </a:xfrm>
        </p:grpSpPr>
        <p:pic>
          <p:nvPicPr>
            <p:cNvPr id="162" name="picture 16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699040" cy="1816067"/>
            </a:xfrm>
            <a:prstGeom prst="rect">
              <a:avLst/>
            </a:prstGeom>
          </p:spPr>
        </p:pic>
        <p:sp>
          <p:nvSpPr>
            <p:cNvPr id="164" name="textbox 164"/>
            <p:cNvSpPr/>
            <p:nvPr/>
          </p:nvSpPr>
          <p:spPr>
            <a:xfrm>
              <a:off x="-12700" y="-12700"/>
              <a:ext cx="4725034" cy="18859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46050" algn="l" rtl="0" eaLnBrk="0">
                <a:lnSpc>
                  <a:spcPct val="80000"/>
                </a:lnSpc>
                <a:spcBef>
                  <a:spcPts val="2"/>
                </a:spcBef>
                <a:tabLst/>
              </a:pPr>
              <a:r>
                <a:rPr sz="13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LibeManage-Main    Menu</a:t>
              </a:r>
              <a:endParaRPr sz="1300" dirty="0">
                <a:latin typeface="Arial"/>
                <a:ea typeface="Arial"/>
                <a:cs typeface="Arial"/>
              </a:endParaRPr>
            </a:p>
            <a:p>
              <a:pPr marL="146050" algn="l" rtl="0" eaLnBrk="0">
                <a:lnSpc>
                  <a:spcPct val="81000"/>
                </a:lnSpc>
                <a:spcBef>
                  <a:spcPts val="195"/>
                </a:spcBef>
                <a:tabLst/>
              </a:pPr>
              <a:r>
                <a:rPr sz="13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1.View</a:t>
              </a:r>
              <a:r>
                <a:rPr sz="1300" kern="0" spc="8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</a:t>
              </a:r>
              <a:r>
                <a:rPr sz="13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All </a:t>
              </a:r>
              <a:r>
                <a:rPr sz="13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Books</a:t>
              </a:r>
              <a:endParaRPr sz="1300" dirty="0">
                <a:latin typeface="Arial"/>
                <a:ea typeface="Arial"/>
                <a:cs typeface="Arial"/>
              </a:endParaRPr>
            </a:p>
            <a:p>
              <a:pPr marL="146050" algn="l" rtl="0" eaLnBrk="0">
                <a:lnSpc>
                  <a:spcPts val="997"/>
                </a:lnSpc>
                <a:spcBef>
                  <a:spcPts val="140"/>
                </a:spcBef>
                <a:tabLst/>
              </a:pPr>
              <a:r>
                <a:rPr sz="13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2.Add  New </a:t>
              </a:r>
              <a:r>
                <a:rPr sz="13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Book</a:t>
              </a:r>
              <a:endParaRPr sz="1300" dirty="0">
                <a:latin typeface="Arial"/>
                <a:ea typeface="Arial"/>
                <a:cs typeface="Arial"/>
              </a:endParaRPr>
            </a:p>
            <a:p>
              <a:pPr marL="146050" algn="l" rtl="0" eaLnBrk="0">
                <a:lnSpc>
                  <a:spcPts val="1739"/>
                </a:lnSpc>
                <a:tabLst/>
              </a:pPr>
              <a:r>
                <a:rPr sz="13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3.Borrow    Boo</a:t>
              </a:r>
              <a:r>
                <a:rPr sz="13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k</a:t>
              </a:r>
              <a:endParaRPr sz="1300" dirty="0">
                <a:latin typeface="Arial"/>
                <a:ea typeface="Arial"/>
                <a:cs typeface="Arial"/>
              </a:endParaRPr>
            </a:p>
            <a:p>
              <a:pPr marL="146050" algn="l" rtl="0" eaLnBrk="0">
                <a:lnSpc>
                  <a:spcPts val="1011"/>
                </a:lnSpc>
                <a:tabLst/>
              </a:pPr>
              <a:r>
                <a:rPr sz="13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4.Return</a:t>
              </a:r>
              <a:r>
                <a:rPr sz="1300" kern="0" spc="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</a:t>
              </a:r>
              <a:r>
                <a:rPr sz="13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Boo</a:t>
              </a:r>
              <a:r>
                <a:rPr sz="13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k</a:t>
              </a:r>
              <a:endParaRPr sz="1300" dirty="0">
                <a:latin typeface="Arial"/>
                <a:ea typeface="Arial"/>
                <a:cs typeface="Arial"/>
              </a:endParaRPr>
            </a:p>
            <a:p>
              <a:pPr marL="146050" algn="l" rtl="0" eaLnBrk="0">
                <a:lnSpc>
                  <a:spcPct val="100000"/>
                </a:lnSpc>
                <a:spcBef>
                  <a:spcPts val="1"/>
                </a:spcBef>
                <a:tabLst/>
              </a:pPr>
              <a:r>
                <a:rPr sz="13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5.Search    Book</a:t>
              </a:r>
              <a:r>
                <a:rPr sz="13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</a:t>
              </a:r>
              <a:endParaRPr sz="1300" dirty="0">
                <a:latin typeface="Arial"/>
                <a:ea typeface="Arial"/>
                <a:cs typeface="Arial"/>
              </a:endParaRPr>
            </a:p>
            <a:p>
              <a:pPr marL="146050" algn="l" rtl="0" eaLnBrk="0">
                <a:lnSpc>
                  <a:spcPct val="93000"/>
                </a:lnSpc>
                <a:spcBef>
                  <a:spcPts val="7"/>
                </a:spcBef>
                <a:tabLst/>
              </a:pPr>
              <a:r>
                <a:rPr sz="13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6.Sort</a:t>
              </a:r>
              <a:r>
                <a:rPr sz="13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</a:t>
              </a:r>
              <a:r>
                <a:rPr sz="13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Books</a:t>
              </a:r>
              <a:endParaRPr sz="1300" dirty="0">
                <a:latin typeface="Arial"/>
                <a:ea typeface="Arial"/>
                <a:cs typeface="Arial"/>
              </a:endParaRPr>
            </a:p>
            <a:p>
              <a:pPr marL="146050" algn="l" rtl="0" eaLnBrk="0">
                <a:lnSpc>
                  <a:spcPct val="74000"/>
                </a:lnSpc>
                <a:spcBef>
                  <a:spcPts val="14"/>
                </a:spcBef>
                <a:tabLst/>
              </a:pPr>
              <a:r>
                <a:rPr sz="15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7.Exit</a:t>
              </a:r>
              <a:endParaRPr sz="15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66" name="textbox 166"/>
          <p:cNvSpPr/>
          <p:nvPr/>
        </p:nvSpPr>
        <p:spPr>
          <a:xfrm>
            <a:off x="2387660" y="670993"/>
            <a:ext cx="7418069" cy="11315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4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05864" algn="l" rtl="0" eaLnBrk="0">
              <a:lnSpc>
                <a:spcPct val="82000"/>
              </a:lnSpc>
              <a:tabLst/>
            </a:pPr>
            <a:r>
              <a:rPr sz="4300" b="1" kern="0" spc="-150" dirty="0">
                <a:solidFill>
                  <a:srgbClr val="10D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Live</a:t>
            </a:r>
            <a:r>
              <a:rPr sz="4300" b="1" kern="0" spc="210" dirty="0">
                <a:solidFill>
                  <a:srgbClr val="10D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300" b="1" kern="0" spc="-150" dirty="0">
                <a:solidFill>
                  <a:srgbClr val="10D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 Structur</a:t>
            </a:r>
            <a:r>
              <a:rPr sz="4300" b="1" kern="0" spc="-160" dirty="0">
                <a:solidFill>
                  <a:srgbClr val="10D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sz="4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3"/>
              </a:spcBef>
              <a:tabLst/>
            </a:pPr>
            <a:r>
              <a:rPr sz="2100" b="1" kern="0" spc="-1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 Step</a:t>
            </a:r>
            <a:r>
              <a:rPr sz="2100" b="1" kern="0" spc="16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1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1 </a:t>
            </a:r>
            <a:r>
              <a:rPr sz="2100" b="1" kern="0" spc="-2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</a:t>
            </a:r>
            <a:r>
              <a:rPr sz="2100" b="1" kern="0" spc="-20" dirty="0">
                <a:solidFill>
                  <a:srgbClr val="E0B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 Step 2</a:t>
            </a:r>
            <a:endParaRPr sz="2100" dirty="0">
              <a:latin typeface="Arial"/>
              <a:ea typeface="Arial"/>
              <a:cs typeface="Arial"/>
            </a:endParaRPr>
          </a:p>
        </p:txBody>
      </p:sp>
      <p:grpSp>
        <p:nvGrpSpPr>
          <p:cNvPr id="24" name="group 24"/>
          <p:cNvGrpSpPr/>
          <p:nvPr/>
        </p:nvGrpSpPr>
        <p:grpSpPr>
          <a:xfrm rot="21600000">
            <a:off x="6635739" y="4248119"/>
            <a:ext cx="4737079" cy="1200149"/>
            <a:chOff x="0" y="0"/>
            <a:chExt cx="4737079" cy="1200149"/>
          </a:xfrm>
        </p:grpSpPr>
        <p:pic>
          <p:nvPicPr>
            <p:cNvPr id="168" name="picture 16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4737079" cy="1200149"/>
            </a:xfrm>
            <a:prstGeom prst="rect">
              <a:avLst/>
            </a:prstGeom>
          </p:spPr>
        </p:pic>
        <p:sp>
          <p:nvSpPr>
            <p:cNvPr id="170" name="textbox 170"/>
            <p:cNvSpPr/>
            <p:nvPr/>
          </p:nvSpPr>
          <p:spPr>
            <a:xfrm>
              <a:off x="-12700" y="-12700"/>
              <a:ext cx="4762500" cy="12636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67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83514" algn="l" rtl="0" eaLnBrk="0">
                <a:lnSpc>
                  <a:spcPct val="81000"/>
                </a:lnSpc>
                <a:tabLst/>
              </a:pPr>
              <a:r>
                <a:rPr sz="13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Borrowed</a:t>
              </a:r>
              <a:r>
                <a:rPr sz="1300" kern="0" spc="10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3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Books:</a:t>
              </a:r>
              <a:endParaRPr sz="1300" dirty="0">
                <a:latin typeface="Arial"/>
                <a:ea typeface="Arial"/>
                <a:cs typeface="Arial"/>
              </a:endParaRPr>
            </a:p>
            <a:p>
              <a:pPr marL="1733550" algn="l" rtl="0" eaLnBrk="0">
                <a:lnSpc>
                  <a:spcPct val="81000"/>
                </a:lnSpc>
                <a:spcBef>
                  <a:spcPts val="386"/>
                </a:spcBef>
                <a:tabLst/>
              </a:pPr>
              <a:r>
                <a:rPr sz="13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Borrower</a:t>
              </a:r>
              <a:endParaRPr sz="13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21600000">
            <a:off x="838200" y="4248119"/>
            <a:ext cx="4718060" cy="1200149"/>
            <a:chOff x="0" y="0"/>
            <a:chExt cx="4718060" cy="1200149"/>
          </a:xfrm>
        </p:grpSpPr>
        <p:pic>
          <p:nvPicPr>
            <p:cNvPr id="172" name="picture 17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4718060" cy="1200149"/>
            </a:xfrm>
            <a:prstGeom prst="rect">
              <a:avLst/>
            </a:prstGeom>
          </p:spPr>
        </p:pic>
        <p:sp>
          <p:nvSpPr>
            <p:cNvPr id="174" name="textbox 174"/>
            <p:cNvSpPr/>
            <p:nvPr/>
          </p:nvSpPr>
          <p:spPr>
            <a:xfrm>
              <a:off x="-12700" y="-12700"/>
              <a:ext cx="4744084" cy="12306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70814" algn="l" rtl="0" eaLnBrk="0">
                <a:lnSpc>
                  <a:spcPts val="1730"/>
                </a:lnSpc>
                <a:spcBef>
                  <a:spcPts val="4"/>
                </a:spcBef>
                <a:tabLst/>
              </a:pPr>
              <a:r>
                <a:rPr sz="1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Books    Sorte</a:t>
              </a:r>
              <a:r>
                <a:rPr sz="13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</a:t>
              </a:r>
              <a:r>
                <a:rPr sz="13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</a:t>
              </a:r>
              <a:r>
                <a:rPr sz="13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by    Title(Temporary):</a:t>
              </a:r>
              <a:endParaRPr sz="1300" dirty="0">
                <a:latin typeface="Arial"/>
                <a:ea typeface="Arial"/>
                <a:cs typeface="Arial"/>
              </a:endParaRPr>
            </a:p>
            <a:p>
              <a:pPr marL="285750" algn="l" rtl="0" eaLnBrk="0">
                <a:lnSpc>
                  <a:spcPct val="77000"/>
                </a:lnSpc>
                <a:spcBef>
                  <a:spcPts val="11"/>
                </a:spcBef>
                <a:tabLst/>
              </a:pPr>
              <a:r>
                <a:rPr sz="13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Applied</a:t>
              </a:r>
              <a:r>
                <a:rPr sz="1300" kern="0" spc="5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</a:t>
              </a:r>
              <a:r>
                <a:rPr sz="13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Cryptography</a:t>
              </a:r>
              <a:endParaRPr sz="1300" dirty="0">
                <a:latin typeface="Arial"/>
                <a:ea typeface="Arial"/>
                <a:cs typeface="Arial"/>
              </a:endParaRPr>
            </a:p>
            <a:p>
              <a:pPr marL="285750" algn="l" rtl="0" eaLnBrk="0">
                <a:lnSpc>
                  <a:spcPct val="99000"/>
                </a:lnSpc>
                <a:spcBef>
                  <a:spcPts val="2"/>
                </a:spcBef>
                <a:tabLst/>
              </a:pPr>
              <a:r>
                <a:rPr sz="13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Data</a:t>
              </a:r>
              <a:r>
                <a:rPr sz="1300" kern="0" spc="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</a:t>
              </a:r>
              <a:r>
                <a:rPr sz="13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Struc</a:t>
              </a:r>
              <a:r>
                <a:rPr sz="13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tures</a:t>
              </a:r>
              <a:endParaRPr sz="1300" dirty="0">
                <a:latin typeface="Arial"/>
                <a:ea typeface="Arial"/>
                <a:cs typeface="Arial"/>
              </a:endParaRPr>
            </a:p>
            <a:p>
              <a:pPr marL="285750" algn="l" rtl="0" eaLnBrk="0">
                <a:lnSpc>
                  <a:spcPct val="81000"/>
                </a:lnSpc>
                <a:spcBef>
                  <a:spcPts val="7"/>
                </a:spcBef>
                <a:tabLst/>
              </a:pPr>
              <a:r>
                <a:rPr sz="13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The C</a:t>
              </a:r>
              <a:r>
                <a:rPr sz="1300" kern="0" spc="9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3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Langu</a:t>
              </a:r>
              <a:r>
                <a:rPr sz="13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age</a:t>
              </a:r>
              <a:endParaRPr sz="13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76" name="textbox 176"/>
          <p:cNvSpPr/>
          <p:nvPr/>
        </p:nvSpPr>
        <p:spPr>
          <a:xfrm>
            <a:off x="4571979" y="5816832"/>
            <a:ext cx="3022600" cy="797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42900" algn="l" rtl="0" eaLnBrk="0">
              <a:lnSpc>
                <a:spcPts val="3739"/>
              </a:lnSpc>
              <a:tabLst/>
            </a:pPr>
            <a:r>
              <a:rPr sz="2800" kern="0" spc="30" dirty="0">
                <a:solidFill>
                  <a:srgbClr val="20C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→—→—→</a:t>
            </a:r>
            <a:endParaRPr sz="28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81000"/>
              </a:lnSpc>
              <a:spcBef>
                <a:spcPts val="297"/>
              </a:spcBef>
              <a:tabLst/>
            </a:pPr>
            <a:r>
              <a:rPr sz="2100" b="1" kern="0" spc="-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Live</a:t>
            </a:r>
            <a:r>
              <a:rPr sz="2100" b="1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</a:t>
            </a:r>
            <a:r>
              <a:rPr sz="2100" b="1" kern="0" spc="-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onstration</a:t>
            </a:r>
            <a:r>
              <a:rPr sz="2100" b="1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Flo</a:t>
            </a:r>
            <a:r>
              <a:rPr sz="2100" b="1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</a:t>
            </a:r>
            <a:endParaRPr sz="2100" dirty="0">
              <a:latin typeface="Arial"/>
              <a:ea typeface="Arial"/>
              <a:cs typeface="Arial"/>
            </a:endParaRPr>
          </a:p>
        </p:txBody>
      </p:sp>
      <p:sp>
        <p:nvSpPr>
          <p:cNvPr id="178" name="textbox 178"/>
          <p:cNvSpPr/>
          <p:nvPr/>
        </p:nvSpPr>
        <p:spPr>
          <a:xfrm>
            <a:off x="6794458" y="2099038"/>
            <a:ext cx="1683385" cy="6311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44"/>
              </a:lnSpc>
              <a:tabLst/>
            </a:pPr>
            <a:r>
              <a:rPr sz="15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ID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15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|Title</a:t>
            </a:r>
            <a:endParaRPr sz="1500" dirty="0">
              <a:latin typeface="Arial"/>
              <a:ea typeface="Arial"/>
              <a:cs typeface="Arial"/>
            </a:endParaRPr>
          </a:p>
          <a:p>
            <a:pPr marL="419100" algn="l" rtl="0" eaLnBrk="0">
              <a:lnSpc>
                <a:spcPct val="81000"/>
              </a:lnSpc>
              <a:spcBef>
                <a:spcPts val="189"/>
              </a:spcBef>
              <a:tabLst/>
            </a:pPr>
            <a:r>
              <a:rPr sz="1300" kern="0" spc="-40" dirty="0">
                <a:solidFill>
                  <a:srgbClr val="28282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C</a:t>
            </a:r>
            <a:r>
              <a:rPr sz="1300" kern="0" spc="80" dirty="0">
                <a:solidFill>
                  <a:srgbClr val="28282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40" dirty="0">
                <a:solidFill>
                  <a:srgbClr val="28282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Language</a:t>
            </a:r>
            <a:endParaRPr sz="1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spcBef>
                <a:spcPts val="8"/>
              </a:spcBef>
              <a:tabLst/>
            </a:pP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r>
              <a:rPr sz="13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Struc</a:t>
            </a: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tures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180" name="textbox 180"/>
          <p:cNvSpPr/>
          <p:nvPr/>
        </p:nvSpPr>
        <p:spPr>
          <a:xfrm>
            <a:off x="2387660" y="3928928"/>
            <a:ext cx="1620519" cy="2863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4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2100" b="1" kern="0" spc="-2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 Step</a:t>
            </a:r>
            <a:r>
              <a:rPr sz="2100" b="1" kern="0" spc="8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2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sz="2100" dirty="0">
              <a:latin typeface="Arial"/>
              <a:ea typeface="Arial"/>
              <a:cs typeface="Arial"/>
            </a:endParaRPr>
          </a:p>
        </p:txBody>
      </p:sp>
      <p:sp>
        <p:nvSpPr>
          <p:cNvPr id="182" name="textbox 182"/>
          <p:cNvSpPr/>
          <p:nvPr/>
        </p:nvSpPr>
        <p:spPr>
          <a:xfrm>
            <a:off x="8185201" y="3928928"/>
            <a:ext cx="1620519" cy="2863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4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2100" b="1" kern="0" spc="-2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 Step</a:t>
            </a:r>
            <a:r>
              <a:rPr sz="2100" b="1" kern="0" spc="4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-2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sz="2100" dirty="0">
              <a:latin typeface="Arial"/>
              <a:ea typeface="Arial"/>
              <a:cs typeface="Arial"/>
            </a:endParaRPr>
          </a:p>
        </p:txBody>
      </p:sp>
      <p:sp>
        <p:nvSpPr>
          <p:cNvPr id="184" name="textbox 184"/>
          <p:cNvSpPr/>
          <p:nvPr/>
        </p:nvSpPr>
        <p:spPr>
          <a:xfrm>
            <a:off x="10267959" y="2212957"/>
            <a:ext cx="798194" cy="542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Status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spcBef>
                <a:spcPts val="6"/>
              </a:spcBef>
              <a:tabLst/>
            </a:pPr>
            <a:r>
              <a:rPr sz="15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Available</a:t>
            </a:r>
            <a:r>
              <a:rPr sz="15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Available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186" name="textbox 186"/>
          <p:cNvSpPr/>
          <p:nvPr/>
        </p:nvSpPr>
        <p:spPr>
          <a:xfrm>
            <a:off x="9690059" y="2234003"/>
            <a:ext cx="375920" cy="5372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59"/>
              </a:lnSpc>
              <a:tabLst/>
            </a:pP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Year</a:t>
            </a:r>
            <a:endParaRPr sz="1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069"/>
              </a:lnSpc>
              <a:tabLst/>
            </a:pPr>
            <a:r>
              <a:rPr sz="13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2009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188" name="textbox 188"/>
          <p:cNvSpPr/>
          <p:nvPr/>
        </p:nvSpPr>
        <p:spPr>
          <a:xfrm>
            <a:off x="11417300" y="6492890"/>
            <a:ext cx="481330" cy="285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44"/>
              </a:lnSpc>
              <a:tabLst/>
            </a:pPr>
            <a:r>
              <a:rPr sz="15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11/15</a:t>
            </a:r>
            <a:endParaRPr sz="15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picture 1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 rot="21600000">
            <a:off x="6356299" y="3727460"/>
            <a:ext cx="4933980" cy="1847819"/>
            <a:chOff x="0" y="0"/>
            <a:chExt cx="4933980" cy="1847819"/>
          </a:xfrm>
        </p:grpSpPr>
        <p:pic>
          <p:nvPicPr>
            <p:cNvPr id="192" name="picture 19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933980" cy="1847819"/>
            </a:xfrm>
            <a:prstGeom prst="rect">
              <a:avLst/>
            </a:prstGeom>
          </p:spPr>
        </p:pic>
        <p:sp>
          <p:nvSpPr>
            <p:cNvPr id="194" name="textbox 194"/>
            <p:cNvSpPr/>
            <p:nvPr/>
          </p:nvSpPr>
          <p:spPr>
            <a:xfrm>
              <a:off x="-12700" y="-12700"/>
              <a:ext cx="4959984" cy="18732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38150" algn="l" rtl="0" eaLnBrk="0">
                <a:lnSpc>
                  <a:spcPct val="81000"/>
                </a:lnSpc>
                <a:tabLst/>
              </a:pPr>
              <a:r>
                <a:rPr sz="2500" b="1" kern="0" spc="-80" dirty="0">
                  <a:solidFill>
                    <a:srgbClr val="E0C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Clean</a:t>
              </a:r>
              <a:r>
                <a:rPr sz="2500" b="1" kern="0" spc="130" dirty="0">
                  <a:solidFill>
                    <a:srgbClr val="E0C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500" b="1" kern="0" spc="-80" dirty="0">
                  <a:solidFill>
                    <a:srgbClr val="E0C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Memory</a:t>
              </a:r>
              <a:r>
                <a:rPr sz="2500" b="1" kern="0" spc="130" dirty="0">
                  <a:solidFill>
                    <a:srgbClr val="E0C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500" b="1" kern="0" spc="-80" dirty="0">
                  <a:solidFill>
                    <a:srgbClr val="E0C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Manageme</a:t>
              </a:r>
              <a:r>
                <a:rPr sz="2500" b="1" kern="0" spc="-90" dirty="0">
                  <a:solidFill>
                    <a:srgbClr val="E0C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nt</a:t>
              </a:r>
              <a:endParaRPr sz="2500" dirty="0">
                <a:latin typeface="Arial"/>
                <a:ea typeface="Arial"/>
                <a:cs typeface="Arial"/>
              </a:endParaRPr>
            </a:p>
            <a:p>
              <a:pPr marL="254000" algn="l" rtl="0" eaLnBrk="0">
                <a:lnSpc>
                  <a:spcPts val="2772"/>
                </a:lnSpc>
                <a:spcBef>
                  <a:spcPts val="617"/>
                </a:spcBef>
                <a:tabLst/>
              </a:pP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Zero</a:t>
              </a:r>
              <a:r>
                <a:rPr sz="2000" kern="0" spc="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dynamic</a:t>
              </a:r>
              <a:r>
                <a:rPr sz="2000" kern="0" spc="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allocation</a:t>
              </a:r>
              <a:r>
                <a:rPr sz="2000" kern="0" spc="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-</a:t>
              </a: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uses</a:t>
              </a:r>
              <a:r>
                <a:rPr sz="2000" kern="0" spc="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static</a:t>
              </a:r>
              <a:endParaRPr sz="2000" dirty="0">
                <a:latin typeface="Arial"/>
                <a:ea typeface="Arial"/>
                <a:cs typeface="Arial"/>
              </a:endParaRPr>
            </a:p>
            <a:p>
              <a:pPr marL="228600" algn="l" rtl="0" eaLnBrk="0">
                <a:lnSpc>
                  <a:spcPts val="2628"/>
                </a:lnSpc>
                <a:tabLst/>
              </a:pP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arrays</a:t>
              </a:r>
              <a:r>
                <a:rPr sz="2000" kern="0" spc="58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eliminating</a:t>
              </a:r>
              <a:r>
                <a:rPr sz="2000" kern="0" spc="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memory</a:t>
              </a:r>
              <a:r>
                <a:rPr sz="2000" kern="0" spc="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leaks</a:t>
              </a:r>
              <a:r>
                <a:rPr sz="2000" kern="0" spc="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and</a:t>
              </a:r>
              <a:endParaRPr sz="2000" dirty="0">
                <a:latin typeface="Arial"/>
                <a:ea typeface="Arial"/>
                <a:cs typeface="Arial"/>
              </a:endParaRPr>
            </a:p>
            <a:p>
              <a:pPr marL="1974850" algn="l" rtl="0" eaLnBrk="0">
                <a:lnSpc>
                  <a:spcPts val="2650"/>
                </a:lnSpc>
                <a:tabLst/>
              </a:pPr>
              <a:r>
                <a:rPr sz="20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crashes</a:t>
              </a:r>
              <a:endParaRPr sz="20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 rot="21600000">
            <a:off x="908060" y="3733769"/>
            <a:ext cx="4933980" cy="1835200"/>
            <a:chOff x="0" y="0"/>
            <a:chExt cx="4933980" cy="1835200"/>
          </a:xfrm>
        </p:grpSpPr>
        <p:pic>
          <p:nvPicPr>
            <p:cNvPr id="196" name="picture 19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4933980" cy="1835200"/>
            </a:xfrm>
            <a:prstGeom prst="rect">
              <a:avLst/>
            </a:prstGeom>
          </p:spPr>
        </p:pic>
        <p:sp>
          <p:nvSpPr>
            <p:cNvPr id="198" name="textbox 198"/>
            <p:cNvSpPr/>
            <p:nvPr/>
          </p:nvSpPr>
          <p:spPr>
            <a:xfrm>
              <a:off x="-12700" y="-12700"/>
              <a:ext cx="4959984" cy="18681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110614" algn="l" rtl="0" eaLnBrk="0">
                <a:lnSpc>
                  <a:spcPct val="81000"/>
                </a:lnSpc>
                <a:spcBef>
                  <a:spcPts val="1"/>
                </a:spcBef>
                <a:tabLst/>
              </a:pPr>
              <a:r>
                <a:rPr sz="2500" b="1" kern="0" spc="-60" dirty="0">
                  <a:solidFill>
                    <a:srgbClr val="E0A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ANSI Colo</a:t>
              </a:r>
              <a:r>
                <a:rPr sz="2500" b="1" kern="0" spc="-70" dirty="0">
                  <a:solidFill>
                    <a:srgbClr val="E0A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</a:t>
              </a:r>
              <a:r>
                <a:rPr sz="2500" b="1" kern="0" spc="70" dirty="0">
                  <a:solidFill>
                    <a:srgbClr val="E0A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500" b="1" kern="0" spc="-70" dirty="0">
                  <a:solidFill>
                    <a:srgbClr val="E0B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Coding</a:t>
              </a:r>
              <a:endParaRPr sz="25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317500" indent="335915" algn="l" rtl="0" eaLnBrk="0">
                <a:lnSpc>
                  <a:spcPct val="110000"/>
                </a:lnSpc>
                <a:tabLst/>
              </a:pP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Color</a:t>
              </a:r>
              <a:r>
                <a:rPr sz="2000" kern="0" spc="1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</a:t>
              </a: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coded</a:t>
              </a:r>
              <a:r>
                <a:rPr sz="2000" kern="0" spc="15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status</a:t>
              </a:r>
              <a:r>
                <a:rPr sz="2000" kern="0" spc="19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indicators</a:t>
              </a:r>
              <a:r>
                <a:rPr sz="2000" kern="0" spc="1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:</a:t>
              </a: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</a:t>
              </a:r>
              <a:r>
                <a:rPr sz="20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Available</a:t>
              </a:r>
              <a:r>
                <a:rPr sz="2000" kern="0" spc="1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20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books</a:t>
              </a:r>
              <a:r>
                <a:rPr sz="2000" kern="0" spc="1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20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in  green,bor</a:t>
              </a:r>
              <a:r>
                <a:rPr sz="20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rowed</a:t>
              </a: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</a:t>
              </a:r>
              <a:r>
                <a:rPr sz="20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books</a:t>
              </a:r>
              <a:r>
                <a:rPr sz="2000" kern="0" spc="5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0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in</a:t>
              </a:r>
              <a:r>
                <a:rPr sz="2000" kern="0" spc="50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0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red</a:t>
              </a:r>
              <a:r>
                <a:rPr sz="2000" kern="0" spc="38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0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for</a:t>
              </a:r>
              <a:r>
                <a:rPr sz="2000" kern="0" spc="4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0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instant</a:t>
              </a:r>
              <a:r>
                <a:rPr sz="2000" kern="0" spc="50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0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recognition</a:t>
              </a:r>
              <a:endParaRPr sz="20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00" name="textbox 200"/>
          <p:cNvSpPr/>
          <p:nvPr/>
        </p:nvSpPr>
        <p:spPr>
          <a:xfrm>
            <a:off x="914400" y="1498610"/>
            <a:ext cx="4928234" cy="1829435"/>
          </a:xfrm>
          <a:prstGeom prst="rect">
            <a:avLst/>
          </a:prstGeom>
          <a:solidFill>
            <a:srgbClr val="23222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25500" algn="l" rtl="0" eaLnBrk="0">
              <a:lnSpc>
                <a:spcPct val="81000"/>
              </a:lnSpc>
              <a:spcBef>
                <a:spcPts val="1"/>
              </a:spcBef>
              <a:tabLst/>
            </a:pPr>
            <a:r>
              <a:rPr sz="2500" b="1" kern="0" spc="-6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Auto ID</a:t>
            </a:r>
            <a:r>
              <a:rPr sz="2500" b="1" kern="0" spc="22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b="1" kern="0" spc="-6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Normalization</a:t>
            </a:r>
            <a:endParaRPr sz="2500" dirty="0">
              <a:latin typeface="Arial"/>
              <a:ea typeface="Arial"/>
              <a:cs typeface="Arial"/>
            </a:endParaRPr>
          </a:p>
          <a:p>
            <a:pPr marL="672465" indent="-508000" algn="l" rtl="0" eaLnBrk="0">
              <a:lnSpc>
                <a:spcPct val="112000"/>
              </a:lnSpc>
              <a:spcBef>
                <a:spcPts val="662"/>
              </a:spcBef>
              <a:tabLst/>
            </a:pPr>
            <a:r>
              <a:rPr sz="20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Automatically</a:t>
            </a:r>
            <a:r>
              <a:rPr sz="2000" kern="0" spc="4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eliminates</a:t>
            </a:r>
            <a:r>
              <a:rPr sz="2000" kern="0" spc="4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gaps</a:t>
            </a:r>
            <a:r>
              <a:rPr sz="2000" kern="0" spc="5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2000" kern="0" spc="5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ook    IDs</a:t>
            </a:r>
            <a:r>
              <a:rPr sz="2000" kern="0" spc="4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when</a:t>
            </a:r>
            <a:r>
              <a:rPr sz="2000" kern="0" spc="5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items</a:t>
            </a:r>
            <a:r>
              <a:rPr sz="2000" kern="0" spc="4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</a:t>
            </a:r>
            <a:r>
              <a:rPr sz="2000" kern="0" spc="5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removed</a:t>
            </a:r>
            <a:r>
              <a:rPr sz="20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endParaRPr sz="2000" dirty="0">
              <a:latin typeface="Arial"/>
              <a:ea typeface="Arial"/>
              <a:cs typeface="Arial"/>
            </a:endParaRPr>
          </a:p>
          <a:p>
            <a:pPr marL="716915" algn="l" rtl="0" eaLnBrk="0">
              <a:lnSpc>
                <a:spcPts val="2777"/>
              </a:lnSpc>
              <a:tabLst/>
            </a:pPr>
            <a:r>
              <a:rPr sz="20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maintaining</a:t>
            </a:r>
            <a:r>
              <a:rPr sz="20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0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sequential</a:t>
            </a:r>
            <a:r>
              <a:rPr sz="20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0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order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grpSp>
        <p:nvGrpSpPr>
          <p:cNvPr id="32" name="group 32"/>
          <p:cNvGrpSpPr/>
          <p:nvPr/>
        </p:nvGrpSpPr>
        <p:grpSpPr>
          <a:xfrm rot="21600000">
            <a:off x="6362760" y="1498610"/>
            <a:ext cx="4921178" cy="1822444"/>
            <a:chOff x="0" y="0"/>
            <a:chExt cx="4921178" cy="1822444"/>
          </a:xfrm>
        </p:grpSpPr>
        <p:pic>
          <p:nvPicPr>
            <p:cNvPr id="202" name="picture 20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4921178" cy="1822444"/>
            </a:xfrm>
            <a:prstGeom prst="rect">
              <a:avLst/>
            </a:prstGeom>
          </p:spPr>
        </p:pic>
        <p:sp>
          <p:nvSpPr>
            <p:cNvPr id="204" name="textbox 204"/>
            <p:cNvSpPr/>
            <p:nvPr/>
          </p:nvSpPr>
          <p:spPr>
            <a:xfrm>
              <a:off x="-12700" y="-12700"/>
              <a:ext cx="4946650" cy="18554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95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875664" algn="l" rtl="0" eaLnBrk="0">
                <a:lnSpc>
                  <a:spcPct val="80000"/>
                </a:lnSpc>
                <a:tabLst/>
              </a:pPr>
              <a:r>
                <a:rPr sz="2500" b="1" kern="0" spc="-60" dirty="0">
                  <a:solidFill>
                    <a:srgbClr val="E0A01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Aligned Table Borders</a:t>
              </a:r>
              <a:endParaRPr sz="25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92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90880" indent="-240665" algn="l" rtl="0" eaLnBrk="0">
                <a:lnSpc>
                  <a:spcPct val="112000"/>
                </a:lnSpc>
                <a:tabLst>
                  <a:tab pos="843914" algn="l"/>
                </a:tabLst>
              </a:pPr>
              <a:r>
                <a:rPr sz="20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Profession</a:t>
              </a:r>
              <a:r>
                <a:rPr sz="20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al  table</a:t>
              </a: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20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formatting</a:t>
              </a:r>
              <a:r>
                <a:rPr sz="2000" kern="0" spc="5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0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with</a:t>
              </a: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perfectly</a:t>
              </a:r>
              <a:r>
                <a:rPr sz="2000" kern="0" spc="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aligned</a:t>
              </a:r>
              <a:r>
                <a:rPr sz="2000" kern="0" spc="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borders</a:t>
              </a:r>
              <a:r>
                <a:rPr sz="2000" kern="0" spc="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20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and           	</a:t>
              </a:r>
              <a:r>
                <a:rPr sz="20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consistent  column</a:t>
              </a:r>
              <a:r>
                <a:rPr sz="2000" kern="0" spc="9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20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spacing</a:t>
              </a:r>
              <a:endParaRPr sz="20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 rot="21600000">
            <a:off x="4159300" y="5854674"/>
            <a:ext cx="3886200" cy="749305"/>
            <a:chOff x="0" y="0"/>
            <a:chExt cx="3886200" cy="749305"/>
          </a:xfrm>
        </p:grpSpPr>
        <p:pic>
          <p:nvPicPr>
            <p:cNvPr id="206" name="picture 20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3886200" cy="749305"/>
            </a:xfrm>
            <a:prstGeom prst="rect">
              <a:avLst/>
            </a:prstGeom>
          </p:spPr>
        </p:pic>
        <p:sp>
          <p:nvSpPr>
            <p:cNvPr id="208" name="textbox 208"/>
            <p:cNvSpPr/>
            <p:nvPr/>
          </p:nvSpPr>
          <p:spPr>
            <a:xfrm>
              <a:off x="-12700" y="-12700"/>
              <a:ext cx="3912234" cy="7823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760730" indent="-589915" algn="l" rtl="0" eaLnBrk="0">
                <a:lnSpc>
                  <a:spcPct val="97000"/>
                </a:lnSpc>
                <a:spcBef>
                  <a:spcPts val="2"/>
                </a:spcBef>
                <a:tabLst/>
              </a:pPr>
              <a:r>
                <a:rPr sz="2000" b="1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Temporary Sorting</a:t>
              </a:r>
              <a:r>
                <a:rPr sz="2000" b="1" kern="0" spc="19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000" b="1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Preserves</a:t>
              </a:r>
              <a:r>
                <a:rPr sz="2000" b="1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</a:t>
              </a:r>
              <a:r>
                <a:rPr sz="2000" b="1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Original</a:t>
              </a:r>
              <a:r>
                <a:rPr sz="2000" b="1" kern="0" spc="15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000" b="1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Data Order</a:t>
              </a:r>
              <a:endParaRPr sz="20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10" name="textbox 210"/>
          <p:cNvSpPr/>
          <p:nvPr/>
        </p:nvSpPr>
        <p:spPr>
          <a:xfrm>
            <a:off x="3575039" y="619972"/>
            <a:ext cx="5003165" cy="565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4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tabLst/>
            </a:pPr>
            <a:r>
              <a:rPr sz="4300" b="1" kern="0" spc="-160" dirty="0">
                <a:solidFill>
                  <a:srgbClr val="10C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Technical</a:t>
            </a:r>
            <a:r>
              <a:rPr sz="4300" b="1" kern="0" spc="210" dirty="0">
                <a:solidFill>
                  <a:srgbClr val="10C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300" b="1" kern="0" spc="-160" dirty="0">
                <a:solidFill>
                  <a:srgbClr val="10C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</a:t>
            </a:r>
            <a:r>
              <a:rPr sz="4300" b="1" kern="0" spc="-170" dirty="0">
                <a:solidFill>
                  <a:srgbClr val="10C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lights</a:t>
            </a:r>
            <a:endParaRPr sz="4300" dirty="0">
              <a:latin typeface="Arial"/>
              <a:ea typeface="Arial"/>
              <a:cs typeface="Arial"/>
            </a:endParaRPr>
          </a:p>
        </p:txBody>
      </p:sp>
      <p:sp>
        <p:nvSpPr>
          <p:cNvPr id="212" name="textbox 212"/>
          <p:cNvSpPr/>
          <p:nvPr/>
        </p:nvSpPr>
        <p:spPr>
          <a:xfrm>
            <a:off x="11315740" y="6438612"/>
            <a:ext cx="600709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794"/>
              </a:lnSpc>
              <a:tabLst/>
            </a:pPr>
            <a:r>
              <a:rPr sz="19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12/15</a:t>
            </a:r>
            <a:endParaRPr sz="19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picture 2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16" name="textbox 216"/>
          <p:cNvSpPr/>
          <p:nvPr/>
        </p:nvSpPr>
        <p:spPr>
          <a:xfrm>
            <a:off x="6229360" y="2180351"/>
            <a:ext cx="5250179" cy="3173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2500" b="1" kern="0" spc="-70" dirty="0">
                <a:solidFill>
                  <a:srgbClr val="E0B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Future</a:t>
            </a:r>
            <a:r>
              <a:rPr sz="2500" b="1" kern="0" spc="210" dirty="0">
                <a:solidFill>
                  <a:srgbClr val="E0B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b="1" kern="0" spc="-70" dirty="0">
                <a:solidFill>
                  <a:srgbClr val="E0B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Enhancements</a:t>
            </a:r>
            <a:endParaRPr sz="2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862"/>
              </a:lnSpc>
              <a:spcBef>
                <a:spcPts val="808"/>
              </a:spcBef>
              <a:tabLst/>
            </a:pPr>
            <a:r>
              <a:rPr sz="2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·Database  integration  for  data  persistence</a:t>
            </a:r>
            <a:endParaRPr sz="2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862"/>
              </a:lnSpc>
              <a:spcBef>
                <a:spcPts val="838"/>
              </a:spcBef>
              <a:tabLst/>
            </a:pPr>
            <a:r>
              <a:rPr sz="2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·User</a:t>
            </a:r>
            <a:r>
              <a:rPr sz="2100" kern="0" spc="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auth</a:t>
            </a:r>
            <a:r>
              <a:rPr sz="2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entication</a:t>
            </a:r>
            <a:r>
              <a:rPr sz="21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&amp;role</a:t>
            </a:r>
            <a:r>
              <a:rPr sz="21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management</a:t>
            </a:r>
            <a:endParaRPr sz="2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862"/>
              </a:lnSpc>
              <a:spcBef>
                <a:spcPts val="788"/>
              </a:spcBef>
              <a:tabLst/>
            </a:pPr>
            <a:r>
              <a:rPr sz="2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·Web-based</a:t>
            </a:r>
            <a:r>
              <a:rPr sz="2100" kern="0" spc="2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graphical</a:t>
            </a:r>
            <a:r>
              <a:rPr sz="2100" kern="0" spc="2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interface</a:t>
            </a:r>
            <a:endParaRPr sz="2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862"/>
              </a:lnSpc>
              <a:spcBef>
                <a:spcPts val="788"/>
              </a:spcBef>
              <a:tabLst/>
            </a:pPr>
            <a:r>
              <a:rPr sz="2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·Advanced   statistics</a:t>
            </a:r>
            <a:r>
              <a:rPr sz="21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&amp;reporting</a:t>
            </a:r>
            <a:endParaRPr sz="2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1796"/>
              </a:spcBef>
              <a:tabLst/>
            </a:pPr>
            <a:r>
              <a:rPr sz="2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·Multi-user</a:t>
            </a:r>
            <a:r>
              <a:rPr sz="2100" kern="0" spc="2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</a:t>
            </a:r>
            <a:r>
              <a:rPr sz="2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ncurrent</a:t>
            </a:r>
            <a:r>
              <a:rPr sz="21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access</a:t>
            </a:r>
            <a:endParaRPr sz="2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862"/>
              </a:lnSpc>
              <a:spcBef>
                <a:spcPts val="6"/>
              </a:spcBef>
              <a:tabLst/>
            </a:pPr>
            <a:r>
              <a:rPr sz="2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·Enhanced</a:t>
            </a:r>
            <a:r>
              <a:rPr sz="2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search  with</a:t>
            </a:r>
            <a:r>
              <a:rPr sz="21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filters</a:t>
            </a:r>
            <a:endParaRPr sz="2100" dirty="0">
              <a:latin typeface="Arial"/>
              <a:ea typeface="Arial"/>
              <a:cs typeface="Arial"/>
            </a:endParaRPr>
          </a:p>
        </p:txBody>
      </p:sp>
      <p:sp>
        <p:nvSpPr>
          <p:cNvPr id="218" name="textbox 218"/>
          <p:cNvSpPr/>
          <p:nvPr/>
        </p:nvSpPr>
        <p:spPr>
          <a:xfrm>
            <a:off x="895360" y="2157399"/>
            <a:ext cx="4725034" cy="27057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8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2500" b="1" kern="0" spc="-60" dirty="0">
                <a:solidFill>
                  <a:srgbClr val="E0A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Current</a:t>
            </a:r>
            <a:r>
              <a:rPr sz="2500" b="1" kern="0" spc="150" dirty="0">
                <a:solidFill>
                  <a:srgbClr val="E0A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b="1" kern="0" spc="-60" dirty="0">
                <a:solidFill>
                  <a:srgbClr val="E0A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Limitat</a:t>
            </a:r>
            <a:r>
              <a:rPr sz="2500" b="1" kern="0" spc="-70" dirty="0">
                <a:solidFill>
                  <a:srgbClr val="E0A020">
                    <a:alpha val="100000"/>
                  </a:srgbClr>
                </a:solidFill>
                <a:latin typeface="Arial"/>
                <a:ea typeface="Arial"/>
                <a:cs typeface="Arial"/>
              </a:rPr>
              <a:t>ions</a:t>
            </a:r>
            <a:endParaRPr sz="2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862"/>
              </a:lnSpc>
              <a:spcBef>
                <a:spcPts val="883"/>
              </a:spcBef>
              <a:tabLst/>
            </a:pPr>
            <a:r>
              <a:rPr sz="2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·No  file</a:t>
            </a:r>
            <a:r>
              <a:rPr sz="21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persistence-data</a:t>
            </a:r>
            <a:r>
              <a:rPr sz="21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lost</a:t>
            </a:r>
            <a:r>
              <a:rPr sz="21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21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exit</a:t>
            </a:r>
            <a:endParaRPr sz="2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862"/>
              </a:lnSpc>
              <a:spcBef>
                <a:spcPts val="915"/>
              </a:spcBef>
              <a:tabLst/>
            </a:pPr>
            <a:r>
              <a:rPr sz="2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·Maximum  100</a:t>
            </a:r>
            <a:r>
              <a:rPr sz="21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books  capacity</a:t>
            </a:r>
            <a:r>
              <a:rPr sz="21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limit</a:t>
            </a:r>
            <a:endParaRPr sz="2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862"/>
              </a:lnSpc>
              <a:spcBef>
                <a:spcPts val="1038"/>
              </a:spcBef>
              <a:tabLst/>
            </a:pPr>
            <a:r>
              <a:rPr sz="2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·Command-line</a:t>
            </a:r>
            <a:r>
              <a:rPr sz="2100" kern="0" spc="2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interface</a:t>
            </a:r>
            <a:r>
              <a:rPr sz="21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only</a:t>
            </a:r>
            <a:endParaRPr sz="2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862"/>
              </a:lnSpc>
              <a:spcBef>
                <a:spcPts val="688"/>
              </a:spcBef>
              <a:tabLst/>
            </a:pPr>
            <a:r>
              <a:rPr sz="2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·No  user</a:t>
            </a:r>
            <a:r>
              <a:rPr sz="21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authenticatio</a:t>
            </a:r>
            <a:r>
              <a:rPr sz="2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21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system</a:t>
            </a:r>
            <a:endParaRPr sz="2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862"/>
              </a:lnSpc>
              <a:spcBef>
                <a:spcPts val="3"/>
              </a:spcBef>
              <a:tabLst/>
            </a:pPr>
            <a:r>
              <a:rPr sz="2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·Temporary</a:t>
            </a:r>
            <a:r>
              <a:rPr sz="2100" kern="0" spc="4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sorting</a:t>
            </a:r>
            <a:r>
              <a:rPr sz="2100" kern="0" spc="5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doesn't</a:t>
            </a:r>
            <a:r>
              <a:rPr sz="2100" kern="0" spc="4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save</a:t>
            </a:r>
            <a:r>
              <a:rPr sz="2100" kern="0" spc="4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order</a:t>
            </a:r>
            <a:endParaRPr sz="2100" dirty="0">
              <a:latin typeface="Arial"/>
              <a:ea typeface="Arial"/>
              <a:cs typeface="Arial"/>
            </a:endParaRPr>
          </a:p>
        </p:txBody>
      </p:sp>
      <p:sp>
        <p:nvSpPr>
          <p:cNvPr id="220" name="textbox 220"/>
          <p:cNvSpPr/>
          <p:nvPr/>
        </p:nvSpPr>
        <p:spPr>
          <a:xfrm>
            <a:off x="895360" y="822974"/>
            <a:ext cx="9641840" cy="601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8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4600" b="1" kern="0" spc="-60" dirty="0">
                <a:solidFill>
                  <a:srgbClr val="10C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Limitation</a:t>
            </a:r>
            <a:r>
              <a:rPr sz="4600" b="1" kern="0" spc="-70" dirty="0">
                <a:solidFill>
                  <a:srgbClr val="10C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s &amp;Future</a:t>
            </a:r>
            <a:r>
              <a:rPr sz="4600" b="1" kern="0" spc="300" dirty="0">
                <a:solidFill>
                  <a:srgbClr val="10C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600" b="1" kern="0" spc="-70" dirty="0">
                <a:solidFill>
                  <a:srgbClr val="10C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Enhancements</a:t>
            </a:r>
            <a:endParaRPr sz="4600" dirty="0">
              <a:latin typeface="Arial"/>
              <a:ea typeface="Arial"/>
              <a:cs typeface="Arial"/>
            </a:endParaRPr>
          </a:p>
        </p:txBody>
      </p:sp>
      <p:sp>
        <p:nvSpPr>
          <p:cNvPr id="222" name="textbox 222"/>
          <p:cNvSpPr/>
          <p:nvPr/>
        </p:nvSpPr>
        <p:spPr>
          <a:xfrm>
            <a:off x="3041639" y="5868537"/>
            <a:ext cx="6104890" cy="2863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1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2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Growth  Potential:</a:t>
            </a:r>
            <a:r>
              <a:rPr sz="2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Educational  to  Enterprise-Ready</a:t>
            </a:r>
            <a:endParaRPr sz="2100" dirty="0">
              <a:latin typeface="Arial"/>
              <a:ea typeface="Arial"/>
              <a:cs typeface="Arial"/>
            </a:endParaRPr>
          </a:p>
        </p:txBody>
      </p:sp>
      <p:sp>
        <p:nvSpPr>
          <p:cNvPr id="224" name="textbox 224"/>
          <p:cNvSpPr/>
          <p:nvPr/>
        </p:nvSpPr>
        <p:spPr>
          <a:xfrm>
            <a:off x="11379261" y="6366645"/>
            <a:ext cx="435609" cy="259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840"/>
              </a:lnSpc>
              <a:tabLst/>
            </a:pP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13/15</a:t>
            </a:r>
            <a:endParaRPr sz="13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picture 2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28" name="textbox 228"/>
          <p:cNvSpPr/>
          <p:nvPr/>
        </p:nvSpPr>
        <p:spPr>
          <a:xfrm>
            <a:off x="666760" y="704449"/>
            <a:ext cx="9994900" cy="1635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8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tabLst/>
            </a:pPr>
            <a:r>
              <a:rPr sz="4700" kern="0" spc="-130" dirty="0">
                <a:solidFill>
                  <a:srgbClr val="10C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4700" b="1" kern="0" spc="-130" dirty="0">
                <a:solidFill>
                  <a:srgbClr val="10C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earning Outcomes &amp;Compil</a:t>
            </a:r>
            <a:r>
              <a:rPr sz="4700" b="1" kern="0" spc="-140" dirty="0">
                <a:solidFill>
                  <a:srgbClr val="10C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ation</a:t>
            </a:r>
            <a:endParaRPr sz="4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spcBef>
                <a:spcPts val="5"/>
              </a:spcBef>
              <a:tabLst/>
            </a:pPr>
            <a:r>
              <a:rPr sz="2300" b="1" kern="0" spc="-3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Key</a:t>
            </a:r>
            <a:r>
              <a:rPr sz="2300" b="1" kern="0" spc="15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3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Learnin</a:t>
            </a:r>
            <a:r>
              <a:rPr sz="2300" b="1" kern="0" spc="-40" dirty="0">
                <a:solidFill>
                  <a:srgbClr val="E0B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g Outcomes       Challenges Overcome</a:t>
            </a:r>
            <a:endParaRPr sz="2300" dirty="0">
              <a:latin typeface="Arial"/>
              <a:ea typeface="Arial"/>
              <a:cs typeface="Arial"/>
            </a:endParaRPr>
          </a:p>
        </p:txBody>
      </p:sp>
      <p:sp>
        <p:nvSpPr>
          <p:cNvPr id="230" name="textbox 230"/>
          <p:cNvSpPr/>
          <p:nvPr/>
        </p:nvSpPr>
        <p:spPr>
          <a:xfrm>
            <a:off x="793800" y="2445381"/>
            <a:ext cx="3267075" cy="286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8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0179" indent="-158114" algn="l" rtl="0" eaLnBrk="0">
              <a:lnSpc>
                <a:spcPct val="107000"/>
              </a:lnSpc>
              <a:tabLst/>
            </a:pPr>
            <a:r>
              <a:rPr sz="19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·Mastered</a:t>
            </a:r>
            <a:r>
              <a:rPr sz="19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9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19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9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r>
              <a:rPr sz="19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9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</a:t>
            </a:r>
            <a:r>
              <a:rPr sz="19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ructures</a:t>
            </a:r>
            <a:r>
              <a:rPr sz="19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9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9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algorithms</a:t>
            </a:r>
            <a:endParaRPr sz="1900" dirty="0">
              <a:latin typeface="Arial"/>
              <a:ea typeface="Arial"/>
              <a:cs typeface="Arial"/>
            </a:endParaRPr>
          </a:p>
          <a:p>
            <a:pPr marL="170179" indent="-158114" algn="l" rtl="0" eaLnBrk="0">
              <a:lnSpc>
                <a:spcPct val="112000"/>
              </a:lnSpc>
              <a:spcBef>
                <a:spcPts val="536"/>
              </a:spcBef>
              <a:tabLst/>
            </a:pPr>
            <a:r>
              <a:rPr sz="19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·Implemented   robust</a:t>
            </a:r>
            <a:r>
              <a:rPr sz="19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9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input</a:t>
            </a:r>
            <a:r>
              <a:rPr sz="1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validation </a:t>
            </a:r>
            <a:r>
              <a:rPr sz="19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techniques</a:t>
            </a:r>
            <a:endParaRPr sz="1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559"/>
              </a:lnSpc>
              <a:spcBef>
                <a:spcPts val="482"/>
              </a:spcBef>
              <a:tabLst/>
            </a:pPr>
            <a:r>
              <a:rPr sz="19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·Applied</a:t>
            </a:r>
            <a:r>
              <a:rPr sz="19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9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modular</a:t>
            </a:r>
            <a:endParaRPr sz="1900" dirty="0">
              <a:latin typeface="Arial"/>
              <a:ea typeface="Arial"/>
              <a:cs typeface="Arial"/>
            </a:endParaRPr>
          </a:p>
          <a:p>
            <a:pPr marL="170814" algn="l" rtl="0" eaLnBrk="0">
              <a:lnSpc>
                <a:spcPts val="2559"/>
              </a:lnSpc>
              <a:tabLst/>
            </a:pPr>
            <a:r>
              <a:rPr sz="19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programming</a:t>
            </a:r>
            <a:r>
              <a:rPr sz="19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9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principles</a:t>
            </a:r>
            <a:endParaRPr sz="1900" dirty="0">
              <a:latin typeface="Arial"/>
              <a:ea typeface="Arial"/>
              <a:cs typeface="Arial"/>
            </a:endParaRPr>
          </a:p>
          <a:p>
            <a:pPr marL="170179" indent="-158114" algn="l" rtl="0" eaLnBrk="0">
              <a:lnSpc>
                <a:spcPct val="128000"/>
              </a:lnSpc>
              <a:spcBef>
                <a:spcPts val="374"/>
              </a:spcBef>
              <a:tabLst/>
            </a:pPr>
            <a:r>
              <a:rPr sz="19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·Developed</a:t>
            </a:r>
            <a:r>
              <a:rPr sz="19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9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real</a:t>
            </a:r>
            <a:r>
              <a:rPr sz="19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-world</a:t>
            </a:r>
            <a:r>
              <a:rPr sz="1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</a:t>
            </a:r>
            <a:r>
              <a:rPr sz="19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software   solution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232" name="textbox 232"/>
          <p:cNvSpPr/>
          <p:nvPr/>
        </p:nvSpPr>
        <p:spPr>
          <a:xfrm>
            <a:off x="8381979" y="2339330"/>
            <a:ext cx="3150235" cy="27965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3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0" algn="l" rtl="0" eaLnBrk="0">
              <a:lnSpc>
                <a:spcPct val="82000"/>
              </a:lnSpc>
              <a:tabLst/>
            </a:pPr>
            <a:r>
              <a:rPr sz="19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Compilation</a:t>
            </a:r>
            <a:r>
              <a:rPr sz="19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9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&amp;Exec</a:t>
            </a:r>
            <a:r>
              <a:rPr sz="19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ution</a:t>
            </a:r>
            <a:endParaRPr sz="1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2000"/>
              </a:lnSpc>
              <a:spcBef>
                <a:spcPts val="1695"/>
              </a:spcBef>
              <a:tabLst/>
            </a:pPr>
            <a:r>
              <a:rPr sz="19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Compile:gcc libemanage.c-0</a:t>
            </a:r>
            <a:r>
              <a:rPr sz="19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9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libemanag</a:t>
            </a:r>
            <a:r>
              <a:rPr sz="1900" kern="0" spc="-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sz="1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589"/>
              </a:lnSpc>
              <a:spcBef>
                <a:spcPts val="1255"/>
              </a:spcBef>
              <a:tabLst/>
            </a:pPr>
            <a:r>
              <a:rPr sz="1900" b="1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Run:</a:t>
            </a:r>
            <a:r>
              <a:rPr sz="19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./libeman</a:t>
            </a:r>
            <a:r>
              <a:rPr sz="19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age</a:t>
            </a:r>
            <a:endParaRPr sz="1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82"/>
              </a:lnSpc>
              <a:spcBef>
                <a:spcPts val="1210"/>
              </a:spcBef>
              <a:tabLst/>
            </a:pPr>
            <a:r>
              <a:rPr sz="1900" b="1" kern="0" spc="-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Req</a:t>
            </a:r>
            <a:r>
              <a:rPr sz="1900" b="1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uirements:A</a:t>
            </a:r>
            <a:r>
              <a:rPr sz="1900" kern="0" spc="-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ny C compile</a:t>
            </a:r>
            <a:r>
              <a:rPr sz="19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endParaRPr sz="1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758"/>
              </a:lnSpc>
              <a:tabLst/>
            </a:pPr>
            <a:r>
              <a:rPr sz="1900" b="1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Platform:</a:t>
            </a:r>
            <a:r>
              <a:rPr sz="19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Cross-platform</a:t>
            </a:r>
            <a:endParaRPr sz="1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319"/>
              </a:lnSpc>
              <a:tabLst/>
            </a:pPr>
            <a:r>
              <a:rPr sz="19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compatibl</a:t>
            </a:r>
            <a:r>
              <a:rPr sz="19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234" name="textbox 234"/>
          <p:cNvSpPr/>
          <p:nvPr/>
        </p:nvSpPr>
        <p:spPr>
          <a:xfrm>
            <a:off x="4590999" y="2425634"/>
            <a:ext cx="3147695" cy="2797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6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3829" indent="-151764" algn="l" rtl="0" eaLnBrk="0">
              <a:lnSpc>
                <a:spcPct val="112000"/>
              </a:lnSpc>
              <a:tabLst/>
            </a:pPr>
            <a:r>
              <a:rPr sz="19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·Buffer   overflow   preve</a:t>
            </a:r>
            <a:r>
              <a:rPr sz="19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ntion</a:t>
            </a:r>
            <a:r>
              <a:rPr sz="19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with</a:t>
            </a:r>
            <a:r>
              <a:rPr sz="19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9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fgets()</a:t>
            </a:r>
            <a:endParaRPr sz="1900" dirty="0">
              <a:latin typeface="Arial"/>
              <a:ea typeface="Arial"/>
              <a:cs typeface="Arial"/>
            </a:endParaRPr>
          </a:p>
          <a:p>
            <a:pPr marL="163829" indent="-151764" algn="l" rtl="0" eaLnBrk="0">
              <a:lnSpc>
                <a:spcPct val="111000"/>
              </a:lnSpc>
              <a:spcBef>
                <a:spcPts val="943"/>
              </a:spcBef>
              <a:tabLst/>
            </a:pPr>
            <a:r>
              <a:rPr sz="19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·Memory</a:t>
            </a:r>
            <a:r>
              <a:rPr sz="19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9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management</a:t>
            </a:r>
            <a:r>
              <a:rPr sz="1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</a:t>
            </a:r>
            <a:r>
              <a:rPr sz="19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without   malloc/free</a:t>
            </a:r>
            <a:endParaRPr sz="1900" dirty="0">
              <a:latin typeface="Arial"/>
              <a:ea typeface="Arial"/>
              <a:cs typeface="Arial"/>
            </a:endParaRPr>
          </a:p>
          <a:p>
            <a:pPr marL="165100" indent="-152400" algn="l" rtl="0" eaLnBrk="0">
              <a:lnSpc>
                <a:spcPct val="113000"/>
              </a:lnSpc>
              <a:spcBef>
                <a:spcPts val="43"/>
              </a:spcBef>
              <a:tabLst/>
            </a:pPr>
            <a:r>
              <a:rPr sz="19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·Case-insensitive </a:t>
            </a:r>
            <a:r>
              <a:rPr sz="19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string</a:t>
            </a:r>
            <a:r>
              <a:rPr sz="19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matching    implem</a:t>
            </a:r>
            <a:r>
              <a:rPr sz="19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entation</a:t>
            </a:r>
            <a:endParaRPr sz="1900" dirty="0">
              <a:latin typeface="Arial"/>
              <a:ea typeface="Arial"/>
              <a:cs typeface="Arial"/>
            </a:endParaRPr>
          </a:p>
          <a:p>
            <a:pPr marL="165100" indent="-152400" algn="l" rtl="0" eaLnBrk="0">
              <a:lnSpc>
                <a:spcPct val="114000"/>
              </a:lnSpc>
              <a:spcBef>
                <a:spcPts val="302"/>
              </a:spcBef>
              <a:tabLst/>
            </a:pPr>
            <a:r>
              <a:rPr sz="19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·User-friendly</a:t>
            </a:r>
            <a:r>
              <a:rPr sz="19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9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error</a:t>
            </a:r>
            <a:r>
              <a:rPr sz="1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</a:t>
            </a:r>
            <a:r>
              <a:rPr sz="19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handling</a:t>
            </a:r>
            <a:r>
              <a:rPr sz="19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9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design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236" name="textbox 236"/>
          <p:cNvSpPr/>
          <p:nvPr/>
        </p:nvSpPr>
        <p:spPr>
          <a:xfrm>
            <a:off x="2825719" y="5839292"/>
            <a:ext cx="6537959" cy="647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7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54050" indent="-641350" algn="l" rtl="0" eaLnBrk="0">
              <a:lnSpc>
                <a:spcPct val="107000"/>
              </a:lnSpc>
              <a:tabLst/>
            </a:pPr>
            <a:r>
              <a:rPr sz="1900" b="1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Real-World Applicability:F</a:t>
            </a:r>
            <a:r>
              <a:rPr sz="19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oundation for database systems,</a:t>
            </a:r>
            <a:r>
              <a:rPr sz="19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file</a:t>
            </a:r>
            <a:r>
              <a:rPr sz="19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management,and enterprise software developm</a:t>
            </a:r>
            <a:r>
              <a:rPr sz="19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ent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238" name="textbox 238"/>
          <p:cNvSpPr/>
          <p:nvPr/>
        </p:nvSpPr>
        <p:spPr>
          <a:xfrm>
            <a:off x="11429980" y="6506225"/>
            <a:ext cx="450850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08"/>
              </a:lnSpc>
              <a:tabLst/>
            </a:pP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14/15</a:t>
            </a:r>
            <a:endParaRPr sz="14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picture 2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42" name="textbox 242"/>
          <p:cNvSpPr/>
          <p:nvPr/>
        </p:nvSpPr>
        <p:spPr>
          <a:xfrm>
            <a:off x="1663700" y="1837359"/>
            <a:ext cx="8866505" cy="4085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46100" algn="l" rtl="0" eaLnBrk="0">
              <a:lnSpc>
                <a:spcPts val="3475"/>
              </a:lnSpc>
              <a:tabLst/>
            </a:pPr>
            <a:r>
              <a:rPr sz="25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Thank</a:t>
            </a:r>
            <a:r>
              <a:rPr sz="2500" kern="0" spc="3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2500" kern="0" spc="3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2500" kern="0" spc="3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your</a:t>
            </a:r>
            <a:r>
              <a:rPr sz="2500" kern="0" spc="3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attention</a:t>
            </a:r>
            <a:r>
              <a:rPr sz="2500" kern="0" spc="4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during</a:t>
            </a:r>
            <a:r>
              <a:rPr sz="2500" kern="0" spc="3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this</a:t>
            </a:r>
            <a:r>
              <a:rPr sz="2500" kern="0" spc="4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presentation</a:t>
            </a:r>
            <a:endParaRPr sz="2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787014" algn="l" rtl="0" eaLnBrk="0">
              <a:lnSpc>
                <a:spcPct val="82000"/>
              </a:lnSpc>
              <a:spcBef>
                <a:spcPts val="1539"/>
              </a:spcBef>
              <a:tabLst/>
            </a:pPr>
            <a:r>
              <a:rPr sz="5100" b="1" kern="0" spc="-170" dirty="0">
                <a:solidFill>
                  <a:srgbClr val="E0A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Que</a:t>
            </a:r>
            <a:r>
              <a:rPr sz="5100" b="1" kern="0" spc="-170" dirty="0">
                <a:solidFill>
                  <a:srgbClr val="E09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stions?</a:t>
            </a:r>
            <a:endParaRPr sz="5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475"/>
              </a:lnSpc>
              <a:spcBef>
                <a:spcPts val="59"/>
              </a:spcBef>
              <a:tabLst/>
            </a:pPr>
            <a:r>
              <a:rPr sz="25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I'</a:t>
            </a:r>
            <a:r>
              <a:rPr sz="2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2500" kern="0" spc="4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ready</a:t>
            </a:r>
            <a:r>
              <a:rPr sz="2500" kern="0" spc="3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2500" kern="0" spc="3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discuss</a:t>
            </a:r>
            <a:r>
              <a:rPr sz="2500" kern="0" spc="3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any</a:t>
            </a:r>
            <a:r>
              <a:rPr sz="2500" kern="0" spc="3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aspects</a:t>
            </a:r>
            <a:r>
              <a:rPr sz="2500" kern="0" spc="3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25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2500" kern="0" spc="4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LibeManage</a:t>
            </a:r>
            <a:r>
              <a:rPr sz="2500" kern="0" spc="3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system</a:t>
            </a:r>
            <a:endParaRPr sz="2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lang="en-GB"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lang="en-GB"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r>
              <a:rPr lang="en-GB" sz="1000" dirty="0">
                <a:latin typeface="Arial"/>
                <a:ea typeface="Arial"/>
                <a:cs typeface="Arial"/>
              </a:rPr>
              <a:t>   </a:t>
            </a:r>
            <a:r>
              <a:rPr lang="en-GB" sz="3200" dirty="0">
                <a:solidFill>
                  <a:schemeClr val="bg1"/>
                </a:solidFill>
                <a:latin typeface="Aptos Black" panose="020F0502020204030204" pitchFamily="34" charset="0"/>
                <a:ea typeface="Arial"/>
                <a:cs typeface="Arial"/>
              </a:rPr>
              <a:t>by</a:t>
            </a:r>
            <a:endParaRPr sz="1050" dirty="0">
              <a:latin typeface="Arial"/>
              <a:ea typeface="Arial"/>
              <a:cs typeface="Arial"/>
            </a:endParaRPr>
          </a:p>
        </p:txBody>
      </p:sp>
      <p:sp>
        <p:nvSpPr>
          <p:cNvPr id="244" name="textbox 244"/>
          <p:cNvSpPr/>
          <p:nvPr/>
        </p:nvSpPr>
        <p:spPr>
          <a:xfrm>
            <a:off x="4324359" y="813597"/>
            <a:ext cx="3527425" cy="729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2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tabLst/>
            </a:pPr>
            <a:r>
              <a:rPr sz="5700" b="1" kern="0" spc="-180" dirty="0">
                <a:solidFill>
                  <a:srgbClr val="10D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Thank You</a:t>
            </a:r>
            <a:endParaRPr sz="5700" dirty="0">
              <a:latin typeface="Arial"/>
              <a:ea typeface="Arial"/>
              <a:cs typeface="Arial"/>
            </a:endParaRPr>
          </a:p>
        </p:txBody>
      </p:sp>
      <p:sp>
        <p:nvSpPr>
          <p:cNvPr id="246" name="textbox 246"/>
          <p:cNvSpPr/>
          <p:nvPr/>
        </p:nvSpPr>
        <p:spPr>
          <a:xfrm>
            <a:off x="11074461" y="6238580"/>
            <a:ext cx="920750" cy="480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112"/>
              </a:lnSpc>
              <a:tabLst/>
            </a:pPr>
            <a:r>
              <a:rPr sz="15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15/15  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pic>
        <p:nvPicPr>
          <p:cNvPr id="248" name="picture 2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653189" y="6369024"/>
            <a:ext cx="323819" cy="336590"/>
          </a:xfrm>
          <a:prstGeom prst="rect">
            <a:avLst/>
          </a:prstGeom>
        </p:spPr>
      </p:pic>
      <p:pic>
        <p:nvPicPr>
          <p:cNvPr id="250" name="picture 2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96900" y="6369024"/>
            <a:ext cx="381000" cy="355655"/>
          </a:xfrm>
          <a:prstGeom prst="rect">
            <a:avLst/>
          </a:prstGeom>
        </p:spPr>
      </p:pic>
      <p:pic>
        <p:nvPicPr>
          <p:cNvPr id="252" name="picture 2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15920" y="146075"/>
            <a:ext cx="336499" cy="323834"/>
          </a:xfrm>
          <a:prstGeom prst="rect">
            <a:avLst/>
          </a:prstGeom>
        </p:spPr>
      </p:pic>
      <p:pic>
        <p:nvPicPr>
          <p:cNvPr id="254" name="picture 2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664939" y="146075"/>
            <a:ext cx="317479" cy="3174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1011</Words>
  <Application>Microsoft Office PowerPoint</Application>
  <PresentationFormat>Widescreen</PresentationFormat>
  <Paragraphs>480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KaiTi</vt:lpstr>
      <vt:lpstr>SimHei</vt:lpstr>
      <vt:lpstr>SimSun</vt:lpstr>
      <vt:lpstr>Aptos Black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GlitchShift</cp:lastModifiedBy>
  <cp:revision>1</cp:revision>
  <dcterms:created xsi:type="dcterms:W3CDTF">2026-01-17T03:39:27Z</dcterms:created>
  <dcterms:modified xsi:type="dcterms:W3CDTF">2026-01-16T19:42:00Z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2026-01-17T03:39:35Z</vt:filetime>
  </property>
  <property fmtid="{D5CDD505-2E9C-101B-9397-08002B2CF9AE}" pid="4" name="UsrData">
    <vt:lpwstr>696a93ec1b46a00001a841cdwl</vt:lpwstr>
  </property>
</Properties>
</file>