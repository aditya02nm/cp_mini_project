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4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4"/>
          <p:cNvSpPr/>
          <p:nvPr/>
        </p:nvSpPr>
        <p:spPr>
          <a:xfrm>
            <a:off x="387319" y="849371"/>
            <a:ext cx="10187305" cy="28606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3030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96000"/>
              </a:lnSpc>
              <a:tabLst/>
            </a:pPr>
            <a:r>
              <a:rPr sz="2300" kern="0" spc="-10" dirty="0">
                <a:solidFill>
                  <a:srgbClr val="00000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{</a:t>
            </a:r>
            <a:endParaRPr sz="2300" dirty="0">
              <a:latin typeface="SimSun"/>
              <a:ea typeface="SimSun"/>
              <a:cs typeface="SimSun"/>
            </a:endParaRPr>
          </a:p>
          <a:p>
            <a:pPr algn="l" rtl="0" eaLnBrk="0">
              <a:lnSpc>
                <a:spcPct val="141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41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ctr" rtl="0" eaLnBrk="0">
              <a:lnSpc>
                <a:spcPct val="81000"/>
              </a:lnSpc>
              <a:spcBef>
                <a:spcPts val="2680"/>
              </a:spcBef>
              <a:tabLst/>
            </a:pPr>
            <a:r>
              <a:rPr lang="en-GB" sz="8900" b="1" kern="0" spc="-300">
                <a:solidFill>
                  <a:srgbClr val="307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8900" b="1" kern="0" spc="-300">
                <a:solidFill>
                  <a:srgbClr val="307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LibManage</a:t>
            </a:r>
            <a:endParaRPr sz="89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7000"/>
              </a:lnSpc>
              <a:tabLst/>
            </a:pPr>
            <a:endParaRPr sz="9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814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949450" algn="l" rtl="0" eaLnBrk="0">
              <a:lnSpc>
                <a:spcPct val="83000"/>
              </a:lnSpc>
              <a:tabLst/>
            </a:pPr>
            <a:r>
              <a:rPr sz="3800" b="1" kern="0" spc="-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3800" b="1" kern="0" spc="2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3800" b="1" kern="0" spc="-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3800" b="1" kern="0" spc="2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3800" b="1" kern="0" spc="-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Ma</a:t>
            </a:r>
            <a:r>
              <a:rPr sz="3800" b="1" kern="0" spc="-1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nagement System</a:t>
            </a:r>
            <a:endParaRPr sz="3800" dirty="0">
              <a:latin typeface="Arial"/>
              <a:ea typeface="Arial"/>
              <a:cs typeface="Arial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4216359" y="3924284"/>
            <a:ext cx="7975640" cy="2933715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527060" y="3962415"/>
            <a:ext cx="3009839" cy="25145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2"/>
          <p:cNvSpPr/>
          <p:nvPr/>
        </p:nvSpPr>
        <p:spPr>
          <a:xfrm>
            <a:off x="1847799" y="4300044"/>
            <a:ext cx="959485" cy="52450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909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77800" algn="l" rtl="0" eaLnBrk="0">
              <a:lnSpc>
                <a:spcPct val="82000"/>
              </a:lnSpc>
              <a:tabLst/>
            </a:pPr>
            <a:r>
              <a:rPr sz="17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17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20000"/>
              </a:lnSpc>
              <a:tabLst/>
            </a:pPr>
            <a:endParaRPr sz="4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2000"/>
              </a:lnSpc>
              <a:spcBef>
                <a:spcPts val="1"/>
              </a:spcBef>
              <a:tabLst/>
            </a:pP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Database</a:t>
            </a:r>
            <a:endParaRPr sz="1700" dirty="0">
              <a:latin typeface="Arial"/>
              <a:ea typeface="Arial"/>
              <a:cs typeface="Arial"/>
            </a:endParaRPr>
          </a:p>
        </p:txBody>
      </p:sp>
      <p:sp>
        <p:nvSpPr>
          <p:cNvPr id="14" name="textbox 14"/>
          <p:cNvSpPr/>
          <p:nvPr/>
        </p:nvSpPr>
        <p:spPr>
          <a:xfrm>
            <a:off x="9499620" y="4300478"/>
            <a:ext cx="688975" cy="51815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5022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63500" indent="-50800" algn="l" rtl="0" eaLnBrk="0">
              <a:lnSpc>
                <a:spcPct val="97000"/>
              </a:lnSpc>
              <a:tabLst/>
            </a:pP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7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Users</a:t>
            </a:r>
            <a:endParaRPr sz="1700" dirty="0">
              <a:latin typeface="Arial"/>
              <a:ea typeface="Arial"/>
              <a:cs typeface="Arial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1530339" y="2419365"/>
            <a:ext cx="9112300" cy="2165344"/>
          </a:xfrm>
          <a:prstGeom prst="rect">
            <a:avLst/>
          </a:prstGeom>
        </p:spPr>
      </p:pic>
      <p:sp>
        <p:nvSpPr>
          <p:cNvPr id="18" name="textbox 18"/>
          <p:cNvSpPr/>
          <p:nvPr/>
        </p:nvSpPr>
        <p:spPr>
          <a:xfrm>
            <a:off x="1422420" y="5348716"/>
            <a:ext cx="9317990" cy="8832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53365" algn="l" rtl="0" eaLnBrk="0">
              <a:lnSpc>
                <a:spcPts val="2267"/>
              </a:lnSpc>
              <a:tabLst/>
            </a:pP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Digital</a:t>
            </a:r>
            <a:r>
              <a:rPr sz="1700" kern="0" spc="3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700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system</a:t>
            </a:r>
            <a:r>
              <a:rPr sz="1700" kern="0" spc="2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that</a:t>
            </a:r>
            <a:r>
              <a:rPr sz="1700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seamlessly</a:t>
            </a:r>
            <a:r>
              <a:rPr sz="1700" kern="0" spc="3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connects</a:t>
            </a:r>
            <a:r>
              <a:rPr sz="1700" kern="0" spc="3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r>
              <a:rPr sz="1700" kern="0" spc="3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700" kern="0" spc="3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borrowers</a:t>
            </a:r>
            <a:r>
              <a:rPr sz="1700" kern="0" spc="2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throug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h</a:t>
            </a:r>
            <a:r>
              <a:rPr sz="1700" kern="0" spc="3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intelligent</a:t>
            </a:r>
            <a:endParaRPr sz="17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4"/>
              </a:lnSpc>
              <a:tabLst/>
            </a:pP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automation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,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providing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efficient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tracking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,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management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,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streamlined</a:t>
            </a:r>
            <a:r>
              <a:rPr sz="17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700" kern="0" spc="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borrowing</a:t>
            </a:r>
            <a:endParaRPr sz="1700" dirty="0">
              <a:latin typeface="Arial"/>
              <a:ea typeface="Arial"/>
              <a:cs typeface="Arial"/>
            </a:endParaRPr>
          </a:p>
          <a:p>
            <a:pPr marL="2057400" algn="l" rtl="0" eaLnBrk="0">
              <a:lnSpc>
                <a:spcPts val="2302"/>
              </a:lnSpc>
              <a:tabLst/>
            </a:pP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processes</a:t>
            </a:r>
            <a:r>
              <a:rPr sz="1700" kern="0" spc="3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with</a:t>
            </a:r>
            <a:r>
              <a:rPr sz="1700" kern="0" spc="4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</a:t>
            </a:r>
            <a:r>
              <a:rPr sz="1700" kern="0" spc="4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intuitive</a:t>
            </a:r>
            <a:r>
              <a:rPr sz="1700" kern="0" spc="4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command-line</a:t>
            </a:r>
            <a:r>
              <a:rPr sz="1700" kern="0" spc="4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interfa</a:t>
            </a:r>
            <a:r>
              <a:rPr sz="17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ce.</a:t>
            </a:r>
            <a:endParaRPr sz="1700" dirty="0">
              <a:latin typeface="Arial"/>
              <a:ea typeface="Arial"/>
              <a:cs typeface="Arial"/>
            </a:endParaRPr>
          </a:p>
        </p:txBody>
      </p:sp>
      <p:sp>
        <p:nvSpPr>
          <p:cNvPr id="20" name="textbox 20"/>
          <p:cNvSpPr/>
          <p:nvPr/>
        </p:nvSpPr>
        <p:spPr>
          <a:xfrm>
            <a:off x="3447999" y="904290"/>
            <a:ext cx="5207634" cy="67119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07000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1000"/>
              </a:lnSpc>
              <a:spcBef>
                <a:spcPts val="1"/>
              </a:spcBef>
              <a:tabLst/>
            </a:pPr>
            <a:r>
              <a:rPr sz="5200" b="1" kern="0" spc="-1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Project </a:t>
            </a:r>
            <a:r>
              <a:rPr sz="5200" b="1" kern="0" spc="-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Overvie</a:t>
            </a:r>
            <a:r>
              <a:rPr sz="5200" b="1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w</a:t>
            </a:r>
            <a:endParaRPr sz="5200" dirty="0">
              <a:latin typeface="Arial"/>
              <a:ea typeface="Arial"/>
              <a:cs typeface="Arial"/>
            </a:endParaRPr>
          </a:p>
        </p:txBody>
      </p:sp>
      <p:sp>
        <p:nvSpPr>
          <p:cNvPr id="22" name="textbox 22"/>
          <p:cNvSpPr/>
          <p:nvPr/>
        </p:nvSpPr>
        <p:spPr>
          <a:xfrm>
            <a:off x="5695960" y="4583584"/>
            <a:ext cx="756284" cy="24257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80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4000"/>
              </a:lnSpc>
              <a:tabLst/>
            </a:pPr>
            <a:r>
              <a:rPr sz="17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System</a:t>
            </a:r>
            <a:endParaRPr sz="1700" dirty="0"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textbox 26"/>
          <p:cNvSpPr/>
          <p:nvPr/>
        </p:nvSpPr>
        <p:spPr>
          <a:xfrm>
            <a:off x="1009599" y="2789639"/>
            <a:ext cx="2884804" cy="6438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26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692150" algn="l" rtl="0" eaLnBrk="0">
              <a:lnSpc>
                <a:spcPct val="82000"/>
              </a:lnSpc>
              <a:tabLst/>
            </a:pP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Add</a:t>
            </a:r>
            <a:r>
              <a:rPr sz="2300" b="1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23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spcBef>
                <a:spcPts val="428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Register</a:t>
            </a:r>
            <a:r>
              <a:rPr sz="1600" kern="0" spc="1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new</a:t>
            </a:r>
            <a:r>
              <a:rPr sz="1600" kern="0" spc="1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 with</a:t>
            </a:r>
            <a:r>
              <a:rPr sz="1600" kern="0" spc="1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details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28" name="textbox 28"/>
          <p:cNvSpPr/>
          <p:nvPr/>
        </p:nvSpPr>
        <p:spPr>
          <a:xfrm>
            <a:off x="4152940" y="690572"/>
            <a:ext cx="3901440" cy="61404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55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2000"/>
              </a:lnSpc>
              <a:tabLst/>
            </a:pPr>
            <a:r>
              <a:rPr sz="4700" b="1" kern="0" spc="-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Core</a:t>
            </a:r>
            <a:r>
              <a:rPr sz="4700" b="1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4700" b="1" kern="0" spc="-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Features</a:t>
            </a:r>
            <a:endParaRPr sz="4700" dirty="0">
              <a:latin typeface="Arial"/>
              <a:ea typeface="Arial"/>
              <a:cs typeface="Arial"/>
            </a:endParaRPr>
          </a:p>
        </p:txBody>
      </p:sp>
      <p:sp>
        <p:nvSpPr>
          <p:cNvPr id="30" name="textbox 30"/>
          <p:cNvSpPr/>
          <p:nvPr/>
        </p:nvSpPr>
        <p:spPr>
          <a:xfrm>
            <a:off x="1003259" y="5145499"/>
            <a:ext cx="2884804" cy="6311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265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520700" algn="l" rtl="0" eaLnBrk="0">
              <a:lnSpc>
                <a:spcPct val="82000"/>
              </a:lnSpc>
              <a:tabLst/>
            </a:pP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Return</a:t>
            </a:r>
            <a:r>
              <a:rPr sz="2300" b="1" kern="0" spc="1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23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spcBef>
                <a:spcPts val="328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Process</a:t>
            </a:r>
            <a:r>
              <a:rPr sz="1600" kern="0" spc="2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600" kern="0" spc="2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ret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urns</a:t>
            </a:r>
            <a:r>
              <a:rPr sz="1600" kern="0" spc="1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efficiently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32" name="textbox 32"/>
          <p:cNvSpPr/>
          <p:nvPr/>
        </p:nvSpPr>
        <p:spPr>
          <a:xfrm>
            <a:off x="8375639" y="5122553"/>
            <a:ext cx="2738754" cy="6477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853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349250" algn="l" rtl="0" eaLnBrk="0">
              <a:lnSpc>
                <a:spcPct val="83000"/>
              </a:lnSpc>
              <a:tabLst/>
            </a:pPr>
            <a:r>
              <a:rPr sz="2300" b="1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Sort Collection</a:t>
            </a:r>
            <a:endParaRPr sz="23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spcBef>
                <a:spcPts val="430"/>
              </a:spcBef>
              <a:tabLst/>
            </a:pP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Organize</a:t>
            </a:r>
            <a:r>
              <a:rPr sz="16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ks alphabetically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34" name="textbox 34"/>
          <p:cNvSpPr/>
          <p:nvPr/>
        </p:nvSpPr>
        <p:spPr>
          <a:xfrm>
            <a:off x="4806919" y="2802326"/>
            <a:ext cx="2554604" cy="6438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26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66700" algn="l" rtl="0" eaLnBrk="0">
              <a:lnSpc>
                <a:spcPct val="82000"/>
              </a:lnSpc>
              <a:tabLst/>
            </a:pP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Remove</a:t>
            </a:r>
            <a:r>
              <a:rPr sz="2300" b="1" kern="0" spc="2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23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spcBef>
                <a:spcPts val="428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Delete</a:t>
            </a:r>
            <a:r>
              <a:rPr sz="1600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 from</a:t>
            </a:r>
            <a:r>
              <a:rPr sz="1600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inventory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36" name="textbox 36"/>
          <p:cNvSpPr/>
          <p:nvPr/>
        </p:nvSpPr>
        <p:spPr>
          <a:xfrm>
            <a:off x="8496340" y="2789639"/>
            <a:ext cx="2503804" cy="65659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26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278765" algn="l" rtl="0" eaLnBrk="0">
              <a:lnSpc>
                <a:spcPct val="82000"/>
              </a:lnSpc>
              <a:tabLst/>
            </a:pPr>
            <a:r>
              <a:rPr sz="2300" b="1" kern="0" spc="-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</a:t>
            </a:r>
            <a:r>
              <a:rPr sz="2300" b="1" kern="0" spc="1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 kern="0" spc="-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23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0000"/>
              </a:lnSpc>
              <a:tabLst/>
            </a:pPr>
            <a:endParaRPr sz="4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tabLst/>
            </a:pP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Issue</a:t>
            </a:r>
            <a:r>
              <a:rPr sz="1600" kern="0" spc="2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 to</a:t>
            </a:r>
            <a:r>
              <a:rPr sz="16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600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users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38" name="textbox 38"/>
          <p:cNvSpPr/>
          <p:nvPr/>
        </p:nvSpPr>
        <p:spPr>
          <a:xfrm>
            <a:off x="4826061" y="5122553"/>
            <a:ext cx="2533650" cy="6477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0853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316865" algn="l" rtl="0" eaLnBrk="0">
              <a:lnSpc>
                <a:spcPct val="83000"/>
              </a:lnSpc>
              <a:tabLst/>
            </a:pPr>
            <a:r>
              <a:rPr sz="2300" b="1" kern="0" spc="-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Search</a:t>
            </a:r>
            <a:r>
              <a:rPr sz="2300" b="1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300" b="1" kern="0" spc="-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23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80"/>
              </a:lnSpc>
              <a:spcBef>
                <a:spcPts val="430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Find</a:t>
            </a:r>
            <a:r>
              <a:rPr sz="1600" kern="0" spc="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r>
              <a:rPr sz="1600" kern="0" spc="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by titl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 or</a:t>
            </a:r>
            <a:r>
              <a:rPr sz="1600" kern="0" spc="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author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5791200" y="4260875"/>
            <a:ext cx="603260" cy="603229"/>
          </a:xfrm>
          <a:prstGeom prst="rect">
            <a:avLst/>
          </a:prstGeom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455139" y="4260875"/>
            <a:ext cx="590580" cy="603229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2158959" y="4267184"/>
            <a:ext cx="590580" cy="59692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2158959" y="1943077"/>
            <a:ext cx="584240" cy="590542"/>
          </a:xfrm>
          <a:prstGeom prst="rect">
            <a:avLst/>
          </a:prstGeom>
        </p:spPr>
      </p:pic>
      <p:pic>
        <p:nvPicPr>
          <p:cNvPr id="48" name="picture 4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600000">
            <a:off x="5810218" y="1943077"/>
            <a:ext cx="584240" cy="590542"/>
          </a:xfrm>
          <a:prstGeom prst="rect">
            <a:avLst/>
          </a:prstGeom>
        </p:spPr>
      </p:pic>
      <p:pic>
        <p:nvPicPr>
          <p:cNvPr id="50" name="picture 5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600000">
            <a:off x="9455139" y="1943077"/>
            <a:ext cx="584240" cy="5905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66" name="rect 66"/>
          <p:cNvSpPr/>
          <p:nvPr/>
        </p:nvSpPr>
        <p:spPr>
          <a:xfrm>
            <a:off x="4362418" y="3924284"/>
            <a:ext cx="7232660" cy="2432052"/>
          </a:xfrm>
          <a:prstGeom prst="rect">
            <a:avLst/>
          </a:prstGeom>
          <a:solidFill>
            <a:srgbClr val="1B232E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68" name="rect 68"/>
          <p:cNvSpPr/>
          <p:nvPr/>
        </p:nvSpPr>
        <p:spPr>
          <a:xfrm>
            <a:off x="603260" y="2038334"/>
            <a:ext cx="3397300" cy="4330689"/>
          </a:xfrm>
          <a:prstGeom prst="rect">
            <a:avLst/>
          </a:prstGeom>
          <a:solidFill>
            <a:srgbClr val="1A242E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70" name="textbox 70"/>
          <p:cNvSpPr/>
          <p:nvPr/>
        </p:nvSpPr>
        <p:spPr>
          <a:xfrm>
            <a:off x="4419579" y="3509027"/>
            <a:ext cx="5017134" cy="18415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5052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1000"/>
              </a:lnSpc>
              <a:tabLst/>
            </a:pPr>
            <a:r>
              <a:rPr sz="2500" b="1" kern="0" spc="-100" dirty="0">
                <a:solidFill>
                  <a:srgbClr val="2060B0">
                    <a:alpha val="100000"/>
                  </a:srgbClr>
                </a:solidFill>
                <a:latin typeface="Arial"/>
                <a:ea typeface="Arial"/>
                <a:cs typeface="Arial"/>
              </a:rPr>
              <a:t>Bubble So</a:t>
            </a:r>
            <a:r>
              <a:rPr sz="2500" b="1" kern="0" spc="-110" dirty="0">
                <a:solidFill>
                  <a:srgbClr val="2060B0">
                    <a:alpha val="100000"/>
                  </a:srgbClr>
                </a:solidFill>
                <a:latin typeface="Arial"/>
                <a:ea typeface="Arial"/>
                <a:cs typeface="Arial"/>
              </a:rPr>
              <a:t>rt Algorithm</a:t>
            </a:r>
            <a:endParaRPr sz="25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67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46050" algn="l" rtl="0" eaLnBrk="0">
              <a:lnSpc>
                <a:spcPct val="79000"/>
              </a:lnSpc>
              <a:spcBef>
                <a:spcPts val="451"/>
              </a:spcBef>
              <a:tabLst/>
            </a:pPr>
            <a:r>
              <a:rPr sz="1500" kern="0" spc="0" dirty="0">
                <a:solidFill>
                  <a:srgbClr val="5090D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void</a:t>
            </a:r>
            <a:r>
              <a:rPr sz="1500" kern="0" spc="80" dirty="0">
                <a:solidFill>
                  <a:srgbClr val="5090D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sortBooksByTitle</a:t>
            </a:r>
            <a:r>
              <a:rPr sz="1500" kern="0" spc="8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(){</a:t>
            </a:r>
            <a:endParaRPr sz="1500" dirty="0">
              <a:latin typeface="Times New Roman"/>
              <a:ea typeface="Times New Roman"/>
              <a:cs typeface="Times New Roman"/>
            </a:endParaRPr>
          </a:p>
          <a:p>
            <a:pPr algn="l" rtl="0" eaLnBrk="0">
              <a:lnSpc>
                <a:spcPct val="116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726564" indent="-393065" algn="l" rtl="0" eaLnBrk="0">
              <a:lnSpc>
                <a:spcPct val="81000"/>
              </a:lnSpc>
              <a:spcBef>
                <a:spcPts val="460"/>
              </a:spcBef>
              <a:tabLst/>
            </a:pPr>
            <a:r>
              <a:rPr sz="1500" kern="0" spc="0" dirty="0">
                <a:solidFill>
                  <a:srgbClr val="A0E0E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500" kern="0" spc="50" dirty="0">
                <a:solidFill>
                  <a:srgbClr val="A0E0E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(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strcmp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(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library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[j].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title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,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library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[j+1].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title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)&gt;0){</a:t>
            </a:r>
            <a:r>
              <a:rPr sz="1500" kern="0" spc="4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temp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=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[j];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727200" algn="l" rtl="0" eaLnBrk="0">
              <a:lnSpc>
                <a:spcPct val="100000"/>
              </a:lnSpc>
              <a:spcBef>
                <a:spcPts val="7"/>
              </a:spcBef>
              <a:tabLst/>
            </a:pP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[j]=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[j+1]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;</a:t>
            </a:r>
            <a:endParaRPr sz="1500" dirty="0">
              <a:latin typeface="Arial"/>
              <a:ea typeface="Arial"/>
              <a:cs typeface="Arial"/>
            </a:endParaRPr>
          </a:p>
        </p:txBody>
      </p:sp>
      <p:sp>
        <p:nvSpPr>
          <p:cNvPr id="72" name="textbox 72"/>
          <p:cNvSpPr/>
          <p:nvPr/>
        </p:nvSpPr>
        <p:spPr>
          <a:xfrm>
            <a:off x="4387900" y="2032025"/>
            <a:ext cx="7194550" cy="1206500"/>
          </a:xfrm>
          <a:prstGeom prst="rect">
            <a:avLst/>
          </a:prstGeom>
          <a:solidFill>
            <a:srgbClr val="1A222D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4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77164" algn="l" rtl="0" eaLnBrk="0">
              <a:lnSpc>
                <a:spcPct val="84000"/>
              </a:lnSpc>
              <a:spcBef>
                <a:spcPts val="5"/>
              </a:spcBef>
              <a:tabLst/>
            </a:pP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500" kern="0" spc="7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500" kern="0" spc="7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MAX</a:t>
            </a:r>
            <a:r>
              <a:rPr sz="1500" kern="0" spc="7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_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r>
              <a:rPr sz="1500" kern="0" spc="7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];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77164" algn="l" rtl="0" eaLnBrk="0">
              <a:lnSpc>
                <a:spcPct val="75000"/>
              </a:lnSpc>
              <a:spcBef>
                <a:spcPts val="246"/>
              </a:spcBef>
              <a:tabLst/>
            </a:pP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Borrower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users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MAX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_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USERS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];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77164" algn="l" rtl="0" eaLnBrk="0">
              <a:lnSpc>
                <a:spcPct val="96000"/>
              </a:lnSpc>
              <a:spcBef>
                <a:spcPts val="60"/>
              </a:spcBef>
              <a:tabLst/>
            </a:pPr>
            <a:r>
              <a:rPr sz="1500" kern="0" spc="0" dirty="0">
                <a:solidFill>
                  <a:srgbClr val="409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500" kern="0" spc="100" dirty="0">
                <a:solidFill>
                  <a:srgbClr val="409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bookCount</a:t>
            </a:r>
            <a:r>
              <a:rPr sz="1500" kern="0" spc="4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1500" kern="0" spc="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=0;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77164" algn="l" rtl="0" eaLnBrk="0">
              <a:lnSpc>
                <a:spcPts val="1856"/>
              </a:lnSpc>
              <a:tabLst/>
            </a:pPr>
            <a:r>
              <a:rPr sz="1500" kern="0" spc="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500" kern="0" spc="12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userCount</a:t>
            </a:r>
            <a:r>
              <a:rPr sz="1500" kern="0" spc="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=0;</a:t>
            </a:r>
            <a:endParaRPr sz="1500" dirty="0">
              <a:latin typeface="Arial"/>
              <a:ea typeface="Arial"/>
              <a:cs typeface="Arial"/>
            </a:endParaRPr>
          </a:p>
        </p:txBody>
      </p:sp>
      <p:sp>
        <p:nvSpPr>
          <p:cNvPr id="74" name="textbox 74"/>
          <p:cNvSpPr/>
          <p:nvPr/>
        </p:nvSpPr>
        <p:spPr>
          <a:xfrm>
            <a:off x="654080" y="1647495"/>
            <a:ext cx="2192654" cy="250761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162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2000"/>
              </a:lnSpc>
              <a:tabLst/>
            </a:pPr>
            <a:r>
              <a:rPr sz="2500" b="1" kern="0" spc="-110" dirty="0">
                <a:solidFill>
                  <a:srgbClr val="3060A0">
                    <a:alpha val="100000"/>
                  </a:srgbClr>
                </a:solidFill>
                <a:latin typeface="Arial"/>
                <a:ea typeface="Arial"/>
                <a:cs typeface="Arial"/>
              </a:rPr>
              <a:t>Data Structures</a:t>
            </a:r>
            <a:endParaRPr sz="2500" dirty="0">
              <a:latin typeface="Arial"/>
              <a:ea typeface="Arial"/>
              <a:cs typeface="Arial"/>
            </a:endParaRPr>
          </a:p>
          <a:p>
            <a:pPr marL="139064" algn="l" rtl="0" eaLnBrk="0">
              <a:lnSpc>
                <a:spcPts val="2283"/>
              </a:lnSpc>
              <a:spcBef>
                <a:spcPts val="1673"/>
              </a:spcBef>
              <a:tabLst/>
            </a:pPr>
            <a:r>
              <a:rPr sz="1800" kern="0" spc="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typedef</a:t>
            </a:r>
            <a:r>
              <a:rPr sz="1800" kern="0" spc="12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0" dirty="0">
                <a:solidFill>
                  <a:srgbClr val="40A0C0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struct</a:t>
            </a:r>
            <a:r>
              <a:rPr sz="1800" kern="0" spc="120" dirty="0">
                <a:solidFill>
                  <a:srgbClr val="40A0C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800" kern="0" spc="20" dirty="0">
                <a:solidFill>
                  <a:srgbClr val="98B8B8">
                    <a:alpha val="100000"/>
                  </a:srgbClr>
                </a:solidFill>
                <a:latin typeface="Arial"/>
                <a:ea typeface="Arial"/>
                <a:cs typeface="Arial"/>
              </a:rPr>
              <a:t>{</a:t>
            </a:r>
            <a:endParaRPr sz="1800" dirty="0">
              <a:latin typeface="Arial"/>
              <a:ea typeface="Arial"/>
              <a:cs typeface="Arial"/>
            </a:endParaRPr>
          </a:p>
          <a:p>
            <a:pPr marL="558165" algn="l" rtl="0" eaLnBrk="0">
              <a:lnSpc>
                <a:spcPts val="1506"/>
              </a:lnSpc>
              <a:tabLst/>
            </a:pPr>
            <a:r>
              <a:rPr sz="2200" kern="0" spc="-30" dirty="0">
                <a:solidFill>
                  <a:srgbClr val="4090C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int</a:t>
            </a:r>
            <a:r>
              <a:rPr sz="2200" kern="0" spc="430" dirty="0">
                <a:solidFill>
                  <a:srgbClr val="4090C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200" kern="0" spc="-3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id;</a:t>
            </a:r>
            <a:endParaRPr sz="2200" dirty="0">
              <a:latin typeface="Times New Roman"/>
              <a:ea typeface="Times New Roman"/>
              <a:cs typeface="Times New Roman"/>
            </a:endParaRPr>
          </a:p>
          <a:p>
            <a:pPr marL="558165" algn="l" rtl="0" eaLnBrk="0">
              <a:lnSpc>
                <a:spcPts val="2226"/>
              </a:lnSpc>
              <a:tabLst/>
            </a:pPr>
            <a:r>
              <a:rPr sz="1800" kern="0" spc="0" dirty="0">
                <a:solidFill>
                  <a:srgbClr val="5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char</a:t>
            </a:r>
            <a:r>
              <a:rPr sz="1800" kern="0" spc="30" dirty="0">
                <a:solidFill>
                  <a:srgbClr val="5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title</a:t>
            </a:r>
            <a:r>
              <a:rPr sz="18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[100];</a:t>
            </a:r>
            <a:endParaRPr sz="1800" dirty="0">
              <a:latin typeface="Arial"/>
              <a:ea typeface="Arial"/>
              <a:cs typeface="Arial"/>
            </a:endParaRPr>
          </a:p>
          <a:p>
            <a:pPr marL="558165" algn="l" rtl="0" eaLnBrk="0">
              <a:lnSpc>
                <a:spcPts val="1985"/>
              </a:lnSpc>
              <a:tabLst/>
            </a:pPr>
            <a:r>
              <a:rPr sz="1500" kern="0" spc="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char</a:t>
            </a:r>
            <a:r>
              <a:rPr sz="1500" kern="0" spc="9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author</a:t>
            </a:r>
            <a:r>
              <a:rPr sz="1500" kern="0" spc="4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[50];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39064" indent="419100" algn="l" rtl="0" eaLnBrk="0">
              <a:lnSpc>
                <a:spcPct val="92000"/>
              </a:lnSpc>
              <a:spcBef>
                <a:spcPts val="8"/>
              </a:spcBef>
              <a:tabLst/>
            </a:pPr>
            <a:r>
              <a:rPr sz="1800" kern="0" spc="0" dirty="0">
                <a:solidFill>
                  <a:srgbClr val="40A0D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int</a:t>
            </a:r>
            <a:r>
              <a:rPr sz="1800" kern="0" spc="50" dirty="0">
                <a:solidFill>
                  <a:srgbClr val="40A0D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  </a:t>
            </a: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isAvailable</a:t>
            </a:r>
            <a:r>
              <a:rPr sz="1800" kern="0" spc="5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;</a:t>
            </a: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 </a:t>
            </a:r>
            <a:r>
              <a:rPr sz="1500" kern="0" spc="4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}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500" kern="0" spc="4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;</a:t>
            </a:r>
            <a:endParaRPr sz="15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9339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39064" algn="l" rtl="0" eaLnBrk="0">
              <a:lnSpc>
                <a:spcPts val="2521"/>
              </a:lnSpc>
              <a:tabLst/>
            </a:pPr>
            <a:r>
              <a:rPr sz="1800" kern="0" spc="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typedef</a:t>
            </a:r>
            <a:r>
              <a:rPr sz="1800" kern="0" spc="12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0" dirty="0">
                <a:solidFill>
                  <a:srgbClr val="085878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struct</a:t>
            </a:r>
            <a:r>
              <a:rPr sz="1800" kern="0" spc="230" dirty="0">
                <a:solidFill>
                  <a:srgbClr val="085878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800" kern="0" spc="120" dirty="0">
                <a:solidFill>
                  <a:srgbClr val="085878">
                    <a:alpha val="100000"/>
                  </a:srgbClr>
                </a:solidFill>
                <a:latin typeface="Arial"/>
                <a:ea typeface="Arial"/>
                <a:cs typeface="Arial"/>
              </a:rPr>
              <a:t>{</a:t>
            </a:r>
            <a:endParaRPr sz="1800" dirty="0">
              <a:latin typeface="Arial"/>
              <a:ea typeface="Arial"/>
              <a:cs typeface="Arial"/>
            </a:endParaRPr>
          </a:p>
        </p:txBody>
      </p:sp>
      <p:sp>
        <p:nvSpPr>
          <p:cNvPr id="76" name="textbox 76"/>
          <p:cNvSpPr/>
          <p:nvPr/>
        </p:nvSpPr>
        <p:spPr>
          <a:xfrm>
            <a:off x="3479820" y="676846"/>
            <a:ext cx="5241925" cy="55943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04000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1000"/>
              </a:lnSpc>
              <a:tabLst/>
            </a:pPr>
            <a:r>
              <a:rPr sz="4300" b="1" kern="0" spc="-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Code Implementati</a:t>
            </a:r>
            <a:r>
              <a:rPr sz="4300" b="1" kern="0" spc="-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on</a:t>
            </a:r>
            <a:endParaRPr sz="4300" dirty="0">
              <a:latin typeface="Arial"/>
              <a:ea typeface="Arial"/>
              <a:cs typeface="Arial"/>
            </a:endParaRPr>
          </a:p>
        </p:txBody>
      </p:sp>
      <p:sp>
        <p:nvSpPr>
          <p:cNvPr id="78" name="textbox 78"/>
          <p:cNvSpPr/>
          <p:nvPr/>
        </p:nvSpPr>
        <p:spPr>
          <a:xfrm>
            <a:off x="780999" y="4028061"/>
            <a:ext cx="2466339" cy="10452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431800" algn="l" rtl="0" eaLnBrk="0">
              <a:lnSpc>
                <a:spcPts val="2368"/>
              </a:lnSpc>
              <a:tabLst/>
            </a:pPr>
            <a:r>
              <a:rPr sz="1800" kern="0" spc="-1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800" kern="0" spc="18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800" kern="0" spc="-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userId;</a:t>
            </a:r>
            <a:endParaRPr sz="1800" dirty="0">
              <a:latin typeface="Arial"/>
              <a:ea typeface="Arial"/>
              <a:cs typeface="Arial"/>
            </a:endParaRPr>
          </a:p>
          <a:p>
            <a:pPr marL="431800" algn="l" rtl="0" eaLnBrk="0">
              <a:lnSpc>
                <a:spcPts val="1878"/>
              </a:lnSpc>
              <a:tabLst/>
            </a:pPr>
            <a:r>
              <a:rPr sz="1500" kern="0" spc="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char</a:t>
            </a:r>
            <a:r>
              <a:rPr sz="1500" kern="0" spc="14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name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[50];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indent="419100" algn="l" rtl="0" eaLnBrk="0">
              <a:lnSpc>
                <a:spcPct val="105000"/>
              </a:lnSpc>
              <a:spcBef>
                <a:spcPts val="1"/>
              </a:spcBef>
              <a:tabLst/>
            </a:pPr>
            <a:r>
              <a:rPr sz="1500" kern="0" spc="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500" kern="0" spc="110" dirty="0">
                <a:solidFill>
                  <a:srgbClr val="409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borrowedBooks</a:t>
            </a:r>
            <a:r>
              <a:rPr sz="1500" kern="0" spc="5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[5];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500" kern="0" spc="8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}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Borrower</a:t>
            </a:r>
            <a:r>
              <a:rPr sz="1500" kern="0" spc="8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;</a:t>
            </a:r>
            <a:endParaRPr sz="1500" dirty="0">
              <a:latin typeface="Arial"/>
              <a:ea typeface="Arial"/>
              <a:cs typeface="Arial"/>
            </a:endParaRPr>
          </a:p>
        </p:txBody>
      </p:sp>
      <p:sp>
        <p:nvSpPr>
          <p:cNvPr id="80" name="textbox 80"/>
          <p:cNvSpPr/>
          <p:nvPr/>
        </p:nvSpPr>
        <p:spPr>
          <a:xfrm>
            <a:off x="4959318" y="4256458"/>
            <a:ext cx="3763645" cy="29400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12"/>
              </a:lnSpc>
              <a:tabLst/>
            </a:pPr>
            <a:r>
              <a:rPr sz="1500" kern="0" spc="0" dirty="0">
                <a:solidFill>
                  <a:srgbClr val="207088">
                    <a:alpha val="100000"/>
                  </a:srgbClr>
                </a:solidFill>
                <a:latin typeface="Arial"/>
                <a:ea typeface="Arial"/>
                <a:cs typeface="Arial"/>
              </a:rPr>
              <a:t>for</a:t>
            </a:r>
            <a:r>
              <a:rPr sz="1500" kern="0" spc="30" dirty="0">
                <a:solidFill>
                  <a:srgbClr val="207088">
                    <a:alpha val="100000"/>
                  </a:srgbClr>
                </a:solidFill>
                <a:latin typeface="Arial"/>
                <a:ea typeface="Arial"/>
                <a:cs typeface="Arial"/>
              </a:rPr>
              <a:t>(</a:t>
            </a:r>
            <a:r>
              <a:rPr sz="1500" kern="0" spc="0" dirty="0">
                <a:solidFill>
                  <a:srgbClr val="207088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500" kern="0" spc="10" dirty="0">
                <a:solidFill>
                  <a:srgbClr val="207088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               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i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=0;i&lt;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bookCount</a:t>
            </a:r>
            <a:r>
              <a:rPr sz="15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-1;i++){</a:t>
            </a:r>
            <a:endParaRPr sz="1500" dirty="0">
              <a:latin typeface="Arial"/>
              <a:ea typeface="Arial"/>
              <a:cs typeface="Arial"/>
            </a:endParaRPr>
          </a:p>
        </p:txBody>
      </p:sp>
      <p:sp>
        <p:nvSpPr>
          <p:cNvPr id="82" name="textbox 82"/>
          <p:cNvSpPr/>
          <p:nvPr/>
        </p:nvSpPr>
        <p:spPr>
          <a:xfrm>
            <a:off x="5346658" y="4453351"/>
            <a:ext cx="3966845" cy="29400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12"/>
              </a:lnSpc>
              <a:tabLst/>
            </a:pPr>
            <a:r>
              <a:rPr sz="1500" kern="0" spc="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for</a:t>
            </a:r>
            <a:r>
              <a:rPr sz="1500" kern="0" spc="3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(</a:t>
            </a:r>
            <a:r>
              <a:rPr sz="1500" kern="0" spc="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</a:t>
            </a:r>
            <a:r>
              <a:rPr sz="1500" kern="0" spc="3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                </a:t>
            </a:r>
            <a:r>
              <a:rPr sz="1500" kern="0" spc="20" dirty="0">
                <a:solidFill>
                  <a:srgbClr val="40A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j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=0;j&lt;</a:t>
            </a:r>
            <a:r>
              <a:rPr sz="15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bookCount</a:t>
            </a:r>
            <a:r>
              <a:rPr sz="1500" kern="0" spc="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-i-1;j++){</a:t>
            </a:r>
            <a:endParaRPr sz="1500" dirty="0">
              <a:latin typeface="Arial"/>
              <a:ea typeface="Arial"/>
              <a:cs typeface="Arial"/>
            </a:endParaRPr>
          </a:p>
        </p:txBody>
      </p:sp>
      <p:sp>
        <p:nvSpPr>
          <p:cNvPr id="84" name="textbox 84"/>
          <p:cNvSpPr/>
          <p:nvPr/>
        </p:nvSpPr>
        <p:spPr>
          <a:xfrm>
            <a:off x="4406900" y="1652262"/>
            <a:ext cx="2696210" cy="33210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504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0000"/>
              </a:lnSpc>
              <a:tabLst/>
            </a:pPr>
            <a:r>
              <a:rPr sz="2500" b="1" kern="0" spc="-100" dirty="0">
                <a:solidFill>
                  <a:srgbClr val="2060B0">
                    <a:alpha val="100000"/>
                  </a:srgbClr>
                </a:solidFill>
                <a:latin typeface="Arial"/>
                <a:ea typeface="Arial"/>
                <a:cs typeface="Arial"/>
              </a:rPr>
              <a:t>Ar</a:t>
            </a:r>
            <a:r>
              <a:rPr sz="2500" b="1" kern="0" spc="-90" dirty="0">
                <a:solidFill>
                  <a:srgbClr val="2060B0">
                    <a:alpha val="100000"/>
                  </a:srgbClr>
                </a:solidFill>
                <a:latin typeface="Arial"/>
                <a:ea typeface="Arial"/>
                <a:cs typeface="Arial"/>
              </a:rPr>
              <a:t>ray Managemen</a:t>
            </a:r>
            <a:r>
              <a:rPr sz="2500" b="1" kern="0" spc="-70" dirty="0">
                <a:solidFill>
                  <a:srgbClr val="2060B0">
                    <a:alpha val="100000"/>
                  </a:srgbClr>
                </a:solidFill>
                <a:latin typeface="Arial"/>
                <a:ea typeface="Arial"/>
                <a:cs typeface="Arial"/>
              </a:rPr>
              <a:t>t</a:t>
            </a:r>
            <a:endParaRPr sz="2500" dirty="0">
              <a:latin typeface="Arial"/>
              <a:ea typeface="Arial"/>
              <a:cs typeface="Arial"/>
            </a:endParaRPr>
          </a:p>
        </p:txBody>
      </p:sp>
      <p:sp>
        <p:nvSpPr>
          <p:cNvPr id="86" name="textbox 86"/>
          <p:cNvSpPr/>
          <p:nvPr/>
        </p:nvSpPr>
        <p:spPr>
          <a:xfrm>
            <a:off x="6134140" y="5231300"/>
            <a:ext cx="1824354" cy="346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521"/>
              </a:lnSpc>
              <a:tabLst/>
            </a:pP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8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[j+1]=</a:t>
            </a: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temp</a:t>
            </a:r>
            <a:r>
              <a:rPr sz="1800" kern="0" spc="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;</a:t>
            </a:r>
            <a:endParaRPr sz="1800" dirty="0"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90" name="textbox 90"/>
          <p:cNvSpPr/>
          <p:nvPr/>
        </p:nvSpPr>
        <p:spPr>
          <a:xfrm>
            <a:off x="1917659" y="4260834"/>
            <a:ext cx="8357234" cy="186943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58750" algn="l" rtl="0" eaLnBrk="0">
              <a:lnSpc>
                <a:spcPts val="2728"/>
              </a:lnSpc>
              <a:tabLst/>
            </a:pPr>
            <a:r>
              <a:rPr sz="2900" kern="0" spc="0" baseline="15488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Enter</a:t>
            </a:r>
            <a:r>
              <a:rPr sz="1800" kern="0" spc="5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900" kern="0" spc="0" baseline="15488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choice</a:t>
            </a:r>
            <a:r>
              <a:rPr sz="2900" kern="0" spc="10" baseline="15488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:_</a:t>
            </a:r>
            <a:r>
              <a:rPr sz="1800" kern="0" spc="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     </a:t>
            </a:r>
            <a:r>
              <a:rPr sz="1800" kern="0" spc="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                               </a:t>
            </a:r>
            <a:r>
              <a:rPr sz="2300" kern="0" spc="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Press</a:t>
            </a:r>
            <a:r>
              <a:rPr sz="1400" kern="0" spc="13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2300" kern="0" spc="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any</a:t>
            </a:r>
            <a:r>
              <a:rPr sz="1400" kern="0" spc="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2300" kern="0" spc="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key</a:t>
            </a:r>
            <a:r>
              <a:rPr sz="1400" kern="0" spc="12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</a:t>
            </a:r>
            <a:r>
              <a:rPr sz="2300" kern="0" spc="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to</a:t>
            </a:r>
            <a:r>
              <a:rPr sz="1400" kern="0" spc="10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2300" kern="0" spc="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continue</a:t>
            </a:r>
            <a:r>
              <a:rPr sz="2300" kern="0" spc="10" baseline="10469" dirty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...</a:t>
            </a:r>
            <a:endParaRPr sz="2300" baseline="10469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519"/>
              </a:lnSpc>
              <a:spcBef>
                <a:spcPts val="571"/>
              </a:spcBef>
              <a:tabLst/>
            </a:pP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Interactive  command-line  interface  providing</a:t>
            </a:r>
            <a:r>
              <a:rPr sz="1900" kern="0" spc="8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intuitive</a:t>
            </a:r>
            <a:r>
              <a:rPr sz="1900" kern="0" spc="8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navigation</a:t>
            </a:r>
            <a:r>
              <a:rPr sz="1900" kern="0" spc="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900" kern="0" spc="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clear</a:t>
            </a:r>
            <a:endParaRPr sz="1900" dirty="0">
              <a:latin typeface="Arial"/>
              <a:ea typeface="Arial"/>
              <a:cs typeface="Arial"/>
            </a:endParaRPr>
          </a:p>
          <a:p>
            <a:pPr marL="615950" algn="l" rtl="0" eaLnBrk="0">
              <a:lnSpc>
                <a:spcPts val="2519"/>
              </a:lnSpc>
              <a:tabLst/>
            </a:pPr>
            <a:r>
              <a:rPr sz="19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system  feedback  for  seamless  libr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ary</a:t>
            </a:r>
            <a:r>
              <a:rPr sz="1900" kern="0" spc="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9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management  operations.</a:t>
            </a:r>
            <a:endParaRPr sz="1900" dirty="0">
              <a:latin typeface="Arial"/>
              <a:ea typeface="Arial"/>
              <a:cs typeface="Arial"/>
            </a:endParaRPr>
          </a:p>
        </p:txBody>
      </p:sp>
      <p:sp>
        <p:nvSpPr>
          <p:cNvPr id="92" name="textbox 92"/>
          <p:cNvSpPr/>
          <p:nvPr/>
        </p:nvSpPr>
        <p:spPr>
          <a:xfrm>
            <a:off x="2063719" y="2289865"/>
            <a:ext cx="2684779" cy="196215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487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4000"/>
              </a:lnSpc>
              <a:tabLst/>
            </a:pPr>
            <a:r>
              <a:rPr sz="1500" kern="0" spc="5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===</a:t>
            </a:r>
            <a:r>
              <a:rPr sz="1500" kern="0" spc="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LibeManage</a:t>
            </a:r>
            <a:r>
              <a:rPr sz="1500" kern="0" spc="10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System</a:t>
            </a:r>
            <a:r>
              <a:rPr sz="1500" kern="0" spc="11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500" kern="0" spc="50" dirty="0">
                <a:solidFill>
                  <a:srgbClr val="20C0D0">
                    <a:alpha val="100000"/>
                  </a:srgbClr>
                </a:solidFill>
                <a:latin typeface="Arial"/>
                <a:ea typeface="Arial"/>
                <a:cs typeface="Arial"/>
              </a:rPr>
              <a:t>===</a:t>
            </a:r>
            <a:endParaRPr sz="15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54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3000"/>
              </a:lnSpc>
              <a:spcBef>
                <a:spcPts val="457"/>
              </a:spcBef>
              <a:tabLst/>
            </a:pPr>
            <a:r>
              <a:rPr sz="1500" kern="0" spc="-30" dirty="0">
                <a:solidFill>
                  <a:srgbClr val="30D050">
                    <a:alpha val="100000"/>
                  </a:srgbClr>
                </a:solidFill>
                <a:latin typeface="Arial"/>
                <a:ea typeface="Arial"/>
                <a:cs typeface="Arial"/>
              </a:rPr>
              <a:t>1.Add</a:t>
            </a:r>
            <a:r>
              <a:rPr sz="1500" kern="0" spc="80" dirty="0">
                <a:solidFill>
                  <a:srgbClr val="30D05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1500" kern="0" spc="-30" dirty="0">
                <a:solidFill>
                  <a:srgbClr val="30C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73000"/>
              </a:lnSpc>
              <a:spcBef>
                <a:spcPts val="365"/>
              </a:spcBef>
              <a:tabLst/>
            </a:pPr>
            <a:r>
              <a:rPr sz="1500" kern="0" spc="0" dirty="0">
                <a:solidFill>
                  <a:srgbClr val="30C070">
                    <a:alpha val="100000"/>
                  </a:srgbClr>
                </a:solidFill>
                <a:latin typeface="Arial"/>
                <a:ea typeface="Arial"/>
                <a:cs typeface="Arial"/>
              </a:rPr>
              <a:t>2.View     </a:t>
            </a:r>
            <a:r>
              <a:rPr sz="1500" kern="0" spc="0" dirty="0">
                <a:solidFill>
                  <a:srgbClr val="30D07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12"/>
              </a:lnSpc>
              <a:tabLst/>
            </a:pPr>
            <a:r>
              <a:rPr sz="1500" kern="0" spc="2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3.</a:t>
            </a:r>
            <a:r>
              <a:rPr sz="1500" kern="0" spc="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Borrow</a:t>
            </a:r>
            <a:r>
              <a:rPr sz="1500" kern="0" spc="2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1500" kern="0" spc="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79000"/>
              </a:lnSpc>
              <a:spcBef>
                <a:spcPts val="217"/>
              </a:spcBef>
              <a:tabLst/>
            </a:pPr>
            <a:r>
              <a:rPr sz="1500" kern="0" spc="60" dirty="0">
                <a:solidFill>
                  <a:srgbClr val="3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4.</a:t>
            </a:r>
            <a:r>
              <a:rPr sz="1500" kern="0" spc="0" dirty="0">
                <a:solidFill>
                  <a:srgbClr val="3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Return</a:t>
            </a:r>
            <a:r>
              <a:rPr sz="1500" kern="0" spc="60" dirty="0">
                <a:solidFill>
                  <a:srgbClr val="3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1500" kern="0" spc="0" dirty="0">
                <a:solidFill>
                  <a:srgbClr val="3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99000"/>
              </a:lnSpc>
              <a:spcBef>
                <a:spcPts val="16"/>
              </a:spcBef>
              <a:tabLst/>
            </a:pPr>
            <a:r>
              <a:rPr sz="1500" kern="0" spc="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5.Search</a:t>
            </a:r>
            <a:r>
              <a:rPr sz="1500" kern="0" spc="30" dirty="0">
                <a:solidFill>
                  <a:srgbClr val="20D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1500" kern="0" spc="0" dirty="0">
                <a:solidFill>
                  <a:srgbClr val="40C06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Books</a:t>
            </a:r>
            <a:endParaRPr sz="1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707"/>
              </a:lnSpc>
              <a:tabLst/>
            </a:pPr>
            <a:r>
              <a:rPr sz="1900" kern="0" spc="-20" dirty="0">
                <a:solidFill>
                  <a:srgbClr val="30C040">
                    <a:alpha val="100000"/>
                  </a:srgbClr>
                </a:solidFill>
                <a:latin typeface="Arial"/>
                <a:ea typeface="Arial"/>
                <a:cs typeface="Arial"/>
              </a:rPr>
              <a:t>6.Exit</a:t>
            </a:r>
            <a:endParaRPr sz="1900" dirty="0">
              <a:latin typeface="Arial"/>
              <a:ea typeface="Arial"/>
              <a:cs typeface="Arial"/>
            </a:endParaRPr>
          </a:p>
        </p:txBody>
      </p:sp>
      <p:sp>
        <p:nvSpPr>
          <p:cNvPr id="94" name="textbox 94"/>
          <p:cNvSpPr/>
          <p:nvPr/>
        </p:nvSpPr>
        <p:spPr>
          <a:xfrm>
            <a:off x="6572198" y="2270130"/>
            <a:ext cx="3626484" cy="96456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624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1000"/>
              </a:lnSpc>
              <a:tabLst/>
            </a:pPr>
            <a:r>
              <a:rPr sz="1900" kern="0" spc="-70" dirty="0">
                <a:solidFill>
                  <a:srgbClr val="20C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Search</a:t>
            </a:r>
            <a:r>
              <a:rPr sz="1900" kern="0" spc="100" dirty="0">
                <a:solidFill>
                  <a:srgbClr val="20C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900" kern="0" spc="-70" dirty="0">
                <a:solidFill>
                  <a:srgbClr val="20C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Res</a:t>
            </a:r>
            <a:r>
              <a:rPr sz="1900" kern="0" spc="-80" dirty="0">
                <a:solidFill>
                  <a:srgbClr val="20C0E0">
                    <a:alpha val="100000"/>
                  </a:srgbClr>
                </a:solidFill>
                <a:latin typeface="Arial"/>
                <a:ea typeface="Arial"/>
                <a:cs typeface="Arial"/>
              </a:rPr>
              <a:t>ults:</a:t>
            </a:r>
            <a:endParaRPr sz="19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67000"/>
              </a:lnSpc>
              <a:spcBef>
                <a:spcPts val="1629"/>
              </a:spcBef>
              <a:tabLst/>
            </a:pPr>
            <a:r>
              <a:rPr sz="1900" kern="0" spc="-10" dirty="0">
                <a:solidFill>
                  <a:srgbClr val="30C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ID:101</a:t>
            </a:r>
            <a:r>
              <a:rPr sz="1900" kern="0" spc="40" dirty="0">
                <a:solidFill>
                  <a:srgbClr val="30C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      </a:t>
            </a:r>
            <a:r>
              <a:rPr sz="1900" kern="0" spc="-10" dirty="0">
                <a:solidFill>
                  <a:srgbClr val="30C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|Title:</a:t>
            </a:r>
            <a:r>
              <a:rPr sz="1900" kern="0" spc="340" dirty="0">
                <a:solidFill>
                  <a:srgbClr val="30C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00" kern="0" spc="-10" dirty="0">
                <a:solidFill>
                  <a:srgbClr val="30D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sz="1900" kern="0" spc="-20" dirty="0">
                <a:solidFill>
                  <a:srgbClr val="30D060">
                    <a:alpha val="100000"/>
                  </a:srgbClr>
                </a:solidFill>
                <a:latin typeface="Times New Roman"/>
                <a:ea typeface="Times New Roman"/>
                <a:cs typeface="Times New Roman"/>
              </a:rPr>
              <a:t>ata   Structures   |</a:t>
            </a:r>
            <a:endParaRPr sz="1900" dirty="0">
              <a:latin typeface="Times New Roman"/>
              <a:ea typeface="Times New Roman"/>
              <a:cs typeface="Times New Roman"/>
            </a:endParaRPr>
          </a:p>
          <a:p>
            <a:pPr marL="12700" algn="l" rtl="0" eaLnBrk="0">
              <a:lnSpc>
                <a:spcPts val="2379"/>
              </a:lnSpc>
              <a:tabLst/>
            </a:pPr>
            <a:r>
              <a:rPr sz="1900" kern="0" spc="-10" dirty="0">
                <a:solidFill>
                  <a:srgbClr val="30D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Author:Smith</a:t>
            </a:r>
            <a:r>
              <a:rPr sz="1900" kern="0" spc="100" dirty="0">
                <a:solidFill>
                  <a:srgbClr val="30D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1900" kern="0" spc="-10" dirty="0">
                <a:solidFill>
                  <a:srgbClr val="30D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|Status:Availabl</a:t>
            </a:r>
            <a:r>
              <a:rPr sz="1900" kern="0" spc="-20" dirty="0">
                <a:solidFill>
                  <a:srgbClr val="30D090">
                    <a:alpha val="100000"/>
                  </a:srgbClr>
                </a:solidFill>
                <a:latin typeface="Arial"/>
                <a:ea typeface="Arial"/>
                <a:cs typeface="Arial"/>
              </a:rPr>
              <a:t>e</a:t>
            </a:r>
            <a:endParaRPr sz="1900" dirty="0">
              <a:latin typeface="Arial"/>
              <a:ea typeface="Arial"/>
              <a:cs typeface="Arial"/>
            </a:endParaRPr>
          </a:p>
        </p:txBody>
      </p:sp>
      <p:sp>
        <p:nvSpPr>
          <p:cNvPr id="96" name="textbox 96"/>
          <p:cNvSpPr/>
          <p:nvPr/>
        </p:nvSpPr>
        <p:spPr>
          <a:xfrm>
            <a:off x="3816318" y="701690"/>
            <a:ext cx="4577079" cy="68389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58393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2000"/>
              </a:lnSpc>
              <a:tabLst/>
            </a:pPr>
            <a:r>
              <a:rPr sz="5300" b="1" kern="0" spc="-2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De</a:t>
            </a:r>
            <a:r>
              <a:rPr sz="5300" b="1" kern="0" spc="-2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mo</a:t>
            </a:r>
            <a:r>
              <a:rPr sz="5300" b="1" kern="0" spc="2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5300" b="1" kern="0" spc="-2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Interfac</a:t>
            </a:r>
            <a:r>
              <a:rPr sz="5300" b="1" kern="0" spc="-2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</a:t>
            </a:r>
            <a:endParaRPr sz="5300" dirty="0"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 rot="21600000">
            <a:off x="4356079" y="1727187"/>
            <a:ext cx="3492520" cy="2133592"/>
            <a:chOff x="0" y="0"/>
            <a:chExt cx="3492520" cy="2133592"/>
          </a:xfrm>
        </p:grpSpPr>
        <p:pic>
          <p:nvPicPr>
            <p:cNvPr id="100" name="picture 10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3492520" cy="2133592"/>
            </a:xfrm>
            <a:prstGeom prst="rect">
              <a:avLst/>
            </a:prstGeom>
          </p:spPr>
        </p:pic>
        <p:sp>
          <p:nvSpPr>
            <p:cNvPr id="102" name="textbox 102"/>
            <p:cNvSpPr/>
            <p:nvPr/>
          </p:nvSpPr>
          <p:spPr>
            <a:xfrm>
              <a:off x="-12700" y="-12700"/>
              <a:ext cx="3518534" cy="216598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3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04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04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04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9454"/>
                </a:lnSpc>
                <a:tabLst/>
              </a:pPr>
              <a:endParaRPr sz="100" dirty="0">
                <a:latin typeface="Arial"/>
                <a:ea typeface="Arial"/>
                <a:cs typeface="Arial"/>
              </a:endParaRPr>
            </a:p>
            <a:p>
              <a:pPr marL="1206500" algn="l" rtl="0" eaLnBrk="0">
                <a:lnSpc>
                  <a:spcPct val="81000"/>
                </a:lnSpc>
                <a:tabLst/>
              </a:pPr>
              <a:r>
                <a:rPr sz="2500" b="1" kern="0" spc="-10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Pointers</a:t>
              </a:r>
              <a:endParaRPr sz="25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17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13000"/>
                </a:lnSpc>
                <a:tabLst/>
              </a:pPr>
              <a:endParaRPr sz="400" dirty="0">
                <a:latin typeface="Arial"/>
                <a:ea typeface="Arial"/>
                <a:cs typeface="Arial"/>
              </a:endParaRPr>
            </a:p>
            <a:p>
              <a:pPr marL="329565" algn="l" rtl="0" eaLnBrk="0">
                <a:lnSpc>
                  <a:spcPct val="111000"/>
                </a:lnSpc>
                <a:spcBef>
                  <a:spcPts val="5"/>
                </a:spcBef>
                <a:tabLst/>
              </a:pP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Memory  management</a:t>
              </a:r>
              <a:r>
                <a:rPr sz="1800" kern="0" spc="45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and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      data</a:t>
              </a:r>
              <a:r>
                <a:rPr sz="1800" kern="0" spc="10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linking</a:t>
              </a:r>
              <a:endParaRPr sz="1800" dirty="0"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 rot="21600000">
            <a:off x="4349739" y="4133865"/>
            <a:ext cx="3498860" cy="2120905"/>
            <a:chOff x="0" y="0"/>
            <a:chExt cx="3498860" cy="2120905"/>
          </a:xfrm>
        </p:grpSpPr>
        <p:pic>
          <p:nvPicPr>
            <p:cNvPr id="104" name="picture 10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21600000">
              <a:off x="0" y="0"/>
              <a:ext cx="3498860" cy="2120905"/>
            </a:xfrm>
            <a:prstGeom prst="rect">
              <a:avLst/>
            </a:prstGeom>
          </p:spPr>
        </p:pic>
        <p:sp>
          <p:nvSpPr>
            <p:cNvPr id="106" name="textbox 106"/>
            <p:cNvSpPr/>
            <p:nvPr/>
          </p:nvSpPr>
          <p:spPr>
            <a:xfrm>
              <a:off x="-12700" y="-12700"/>
              <a:ext cx="3524884" cy="214693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44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44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marL="1212850" algn="l" rtl="0" eaLnBrk="0">
                <a:lnSpc>
                  <a:spcPct val="80000"/>
                </a:lnSpc>
                <a:spcBef>
                  <a:spcPts val="1"/>
                </a:spcBef>
                <a:tabLst/>
              </a:pPr>
              <a:r>
                <a:rPr sz="2500" b="1" kern="0" spc="-10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Input</a:t>
              </a:r>
              <a:endParaRPr sz="2500" dirty="0">
                <a:latin typeface="Arial"/>
                <a:ea typeface="Arial"/>
                <a:cs typeface="Arial"/>
              </a:endParaRPr>
            </a:p>
            <a:p>
              <a:pPr marL="1212850" algn="l" rtl="0" eaLnBrk="0">
                <a:lnSpc>
                  <a:spcPct val="81000"/>
                </a:lnSpc>
                <a:spcBef>
                  <a:spcPts val="384"/>
                </a:spcBef>
                <a:tabLst/>
              </a:pPr>
              <a:r>
                <a:rPr sz="2500" b="1" kern="0" spc="-8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Validation</a:t>
              </a:r>
              <a:endParaRPr sz="2500" dirty="0">
                <a:latin typeface="Arial"/>
                <a:ea typeface="Arial"/>
                <a:cs typeface="Arial"/>
              </a:endParaRPr>
            </a:p>
            <a:p>
              <a:pPr marL="335915" algn="l" rtl="0" eaLnBrk="0">
                <a:lnSpc>
                  <a:spcPts val="2521"/>
                </a:lnSpc>
                <a:spcBef>
                  <a:spcPts val="1020"/>
                </a:spcBef>
                <a:tabLst/>
              </a:pP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Eror</a:t>
              </a:r>
              <a:r>
                <a:rPr sz="1800" kern="0" spc="34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handling</a:t>
              </a:r>
              <a:r>
                <a:rPr sz="1800" kern="0" spc="24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and</a:t>
              </a:r>
              <a:r>
                <a:rPr sz="1800" kern="0" spc="23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data</a:t>
              </a:r>
              <a:endParaRPr sz="1800" dirty="0">
                <a:latin typeface="Arial"/>
                <a:ea typeface="Arial"/>
                <a:cs typeface="Arial"/>
              </a:endParaRPr>
            </a:p>
            <a:p>
              <a:pPr marL="311150" algn="l" rtl="0" eaLnBrk="0">
                <a:lnSpc>
                  <a:spcPts val="2338"/>
                </a:lnSpc>
                <a:spcBef>
                  <a:spcPts val="61"/>
                </a:spcBef>
                <a:tabLst/>
              </a:pP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integrity</a:t>
              </a:r>
              <a:endParaRPr sz="1800" dirty="0"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 rot="21600000">
            <a:off x="603260" y="1739874"/>
            <a:ext cx="3479840" cy="2114595"/>
            <a:chOff x="0" y="0"/>
            <a:chExt cx="3479840" cy="2114595"/>
          </a:xfrm>
        </p:grpSpPr>
        <p:pic>
          <p:nvPicPr>
            <p:cNvPr id="108" name="picture 10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1600000">
              <a:off x="0" y="0"/>
              <a:ext cx="3479840" cy="2114595"/>
            </a:xfrm>
            <a:prstGeom prst="rect">
              <a:avLst/>
            </a:prstGeom>
          </p:spPr>
        </p:pic>
        <p:sp>
          <p:nvSpPr>
            <p:cNvPr id="110" name="textbox 110"/>
            <p:cNvSpPr/>
            <p:nvPr/>
          </p:nvSpPr>
          <p:spPr>
            <a:xfrm>
              <a:off x="-12700" y="-12700"/>
              <a:ext cx="3505834" cy="214058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32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32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32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marL="1212850" algn="l" rtl="0" eaLnBrk="0">
                <a:lnSpc>
                  <a:spcPct val="82000"/>
                </a:lnSpc>
                <a:spcBef>
                  <a:spcPts val="7"/>
                </a:spcBef>
                <a:tabLst/>
              </a:pPr>
              <a:r>
                <a:rPr sz="2500" b="1" kern="0" spc="-8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Structs</a:t>
              </a:r>
              <a:endParaRPr sz="2500" dirty="0">
                <a:latin typeface="Arial"/>
                <a:ea typeface="Arial"/>
                <a:cs typeface="Arial"/>
              </a:endParaRPr>
            </a:p>
            <a:p>
              <a:pPr algn="l" rtl="0" eaLnBrk="0">
                <a:lnSpc>
                  <a:spcPct val="123000"/>
                </a:lnSpc>
                <a:tabLst/>
              </a:pPr>
              <a:endParaRPr sz="1000" dirty="0">
                <a:latin typeface="Arial"/>
                <a:ea typeface="Arial"/>
                <a:cs typeface="Arial"/>
              </a:endParaRPr>
            </a:p>
            <a:p>
              <a:pPr marL="329565" algn="l" rtl="0" eaLnBrk="0">
                <a:lnSpc>
                  <a:spcPts val="2521"/>
                </a:lnSpc>
                <a:spcBef>
                  <a:spcPts val="547"/>
                </a:spcBef>
                <a:tabLst/>
              </a:pP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Custom</a:t>
              </a:r>
              <a:r>
                <a:rPr sz="1800" kern="0" spc="37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data</a:t>
              </a:r>
              <a:r>
                <a:rPr sz="1800" kern="0" spc="27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types</a:t>
              </a:r>
              <a:r>
                <a:rPr sz="1800" kern="0" spc="26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for</a:t>
              </a:r>
              <a:endParaRPr sz="1800" dirty="0">
                <a:latin typeface="Arial"/>
                <a:ea typeface="Arial"/>
                <a:cs typeface="Arial"/>
              </a:endParaRPr>
            </a:p>
            <a:p>
              <a:pPr marL="329565" algn="l" rtl="0" eaLnBrk="0">
                <a:lnSpc>
                  <a:spcPts val="2213"/>
                </a:lnSpc>
                <a:spcBef>
                  <a:spcPts val="103"/>
                </a:spcBef>
                <a:tabLst/>
              </a:pP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books</a:t>
              </a:r>
              <a:r>
                <a:rPr sz="1800" kern="0" spc="29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and</a:t>
              </a:r>
              <a:r>
                <a:rPr sz="1800" kern="0" spc="31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1800" kern="0" spc="0" dirty="0">
                  <a:solidFill>
                    <a:srgbClr val="000000">
                      <a:alpha val="100000"/>
                    </a:srgbClr>
                  </a:solidFill>
                  <a:latin typeface="Arial"/>
                  <a:ea typeface="Arial"/>
                  <a:cs typeface="Arial"/>
                </a:rPr>
                <a:t>users</a:t>
              </a:r>
              <a:endParaRPr sz="1800" dirty="0"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12" name="textbox 112"/>
          <p:cNvSpPr/>
          <p:nvPr/>
        </p:nvSpPr>
        <p:spPr>
          <a:xfrm>
            <a:off x="609600" y="4146552"/>
            <a:ext cx="3474084" cy="2101850"/>
          </a:xfrm>
          <a:prstGeom prst="rect">
            <a:avLst/>
          </a:prstGeom>
          <a:solidFill>
            <a:srgbClr val="EAEFF4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31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31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marL="1193800" algn="l" rtl="0" eaLnBrk="0">
              <a:lnSpc>
                <a:spcPct val="81000"/>
              </a:lnSpc>
              <a:tabLst/>
            </a:pPr>
            <a:r>
              <a:rPr sz="2500" b="1" kern="0" spc="-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Sorting</a:t>
            </a:r>
            <a:endParaRPr sz="2500" dirty="0">
              <a:latin typeface="Arial"/>
              <a:ea typeface="Arial"/>
              <a:cs typeface="Arial"/>
            </a:endParaRPr>
          </a:p>
          <a:p>
            <a:pPr marL="1193800" algn="l" rtl="0" eaLnBrk="0">
              <a:lnSpc>
                <a:spcPct val="80000"/>
              </a:lnSpc>
              <a:spcBef>
                <a:spcPts val="550"/>
              </a:spcBef>
              <a:tabLst/>
            </a:pPr>
            <a:r>
              <a:rPr sz="2500" b="1" kern="0" spc="-1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Algorithms</a:t>
            </a:r>
            <a:endParaRPr sz="25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03000"/>
              </a:lnSpc>
              <a:tabLst/>
            </a:pPr>
            <a:endParaRPr sz="7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6912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310515" algn="l" rtl="0" eaLnBrk="0">
              <a:lnSpc>
                <a:spcPct val="126000"/>
              </a:lnSpc>
              <a:tabLst/>
            </a:pPr>
            <a:r>
              <a:rPr sz="1800" kern="0" spc="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Bubble sort</a:t>
            </a:r>
            <a:r>
              <a:rPr sz="1800" kern="0" spc="8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for</a:t>
            </a:r>
            <a:r>
              <a:rPr sz="1800" kern="0" spc="1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o</a:t>
            </a: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rganized</a:t>
            </a:r>
            <a:r>
              <a:rPr sz="18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    data</a:t>
            </a:r>
            <a:endParaRPr sz="1800" dirty="0">
              <a:latin typeface="Arial"/>
              <a:ea typeface="Arial"/>
              <a:cs typeface="Arial"/>
            </a:endParaRPr>
          </a:p>
        </p:txBody>
      </p:sp>
      <p:sp>
        <p:nvSpPr>
          <p:cNvPr id="114" name="textbox 114"/>
          <p:cNvSpPr/>
          <p:nvPr/>
        </p:nvSpPr>
        <p:spPr>
          <a:xfrm>
            <a:off x="8407460" y="2331753"/>
            <a:ext cx="2774950" cy="1248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5048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875664" algn="l" rtl="0" eaLnBrk="0">
              <a:lnSpc>
                <a:spcPct val="80000"/>
              </a:lnSpc>
              <a:tabLst/>
            </a:pPr>
            <a:r>
              <a:rPr sz="2500" b="1" kern="0" spc="-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Arrays</a:t>
            </a:r>
            <a:endParaRPr sz="25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7000"/>
              </a:lnSpc>
              <a:tabLst/>
            </a:pPr>
            <a:endParaRPr sz="10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12000"/>
              </a:lnSpc>
              <a:tabLst/>
            </a:pPr>
            <a:endParaRPr sz="4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122000"/>
              </a:lnSpc>
              <a:spcBef>
                <a:spcPts val="4"/>
              </a:spcBef>
              <a:tabLst/>
            </a:pP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800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collections</a:t>
            </a:r>
            <a:r>
              <a:rPr sz="1800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800" kern="0" spc="3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 </a:t>
            </a: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databases</a:t>
            </a:r>
            <a:endParaRPr sz="1800" dirty="0">
              <a:latin typeface="Arial"/>
              <a:ea typeface="Arial"/>
              <a:cs typeface="Arial"/>
            </a:endParaRPr>
          </a:p>
        </p:txBody>
      </p:sp>
      <p:sp>
        <p:nvSpPr>
          <p:cNvPr id="116" name="textbox 116"/>
          <p:cNvSpPr/>
          <p:nvPr/>
        </p:nvSpPr>
        <p:spPr>
          <a:xfrm>
            <a:off x="603239" y="777318"/>
            <a:ext cx="5969634" cy="6191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1495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r" rtl="0" eaLnBrk="0">
              <a:lnSpc>
                <a:spcPct val="81000"/>
              </a:lnSpc>
              <a:tabLst/>
            </a:pPr>
            <a:r>
              <a:rPr sz="4800" b="1" kern="0" spc="-1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Technical</a:t>
            </a:r>
            <a:r>
              <a:rPr sz="4800" b="1" kern="0" spc="3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4800" b="1" kern="0" spc="-1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Foundation</a:t>
            </a:r>
            <a:endParaRPr sz="4800" dirty="0">
              <a:latin typeface="Arial"/>
              <a:ea typeface="Arial"/>
              <a:cs typeface="Arial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8407460" y="5366699"/>
            <a:ext cx="2741295" cy="34607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521"/>
              </a:lnSpc>
              <a:tabLst/>
            </a:pP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Colorful CLI</a:t>
            </a:r>
            <a:r>
              <a:rPr sz="1800" kern="0" spc="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  <a:r>
              <a:rPr sz="1800" kern="0" spc="1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8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interfa</a:t>
            </a:r>
            <a:r>
              <a:rPr sz="18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ce</a:t>
            </a:r>
            <a:endParaRPr sz="1800" dirty="0">
              <a:latin typeface="Arial"/>
              <a:ea typeface="Arial"/>
              <a:cs typeface="Arial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271019" y="4547206"/>
            <a:ext cx="1252219" cy="69850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1844"/>
              </a:lnSpc>
              <a:tabLst/>
            </a:pPr>
            <a:r>
              <a:rPr sz="2500" b="1" kern="0" spc="-1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Terminal</a:t>
            </a:r>
            <a:endParaRPr sz="25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3450"/>
              </a:lnSpc>
              <a:tabLst/>
            </a:pPr>
            <a:r>
              <a:rPr sz="2500" b="1" kern="0" spc="-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Styling</a:t>
            </a:r>
            <a:endParaRPr sz="2500" dirty="0">
              <a:latin typeface="Arial"/>
              <a:ea typeface="Arial"/>
              <a:cs typeface="Arial"/>
            </a:endParaRPr>
          </a:p>
        </p:txBody>
      </p:sp>
      <p:pic>
        <p:nvPicPr>
          <p:cNvPr id="122" name="picture 1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8420161" y="4533892"/>
            <a:ext cx="653978" cy="5778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4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46" name="textbox 146"/>
          <p:cNvSpPr/>
          <p:nvPr/>
        </p:nvSpPr>
        <p:spPr>
          <a:xfrm>
            <a:off x="3073460" y="717288"/>
            <a:ext cx="6036309" cy="87439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50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481965" algn="l" rtl="0" eaLnBrk="0">
              <a:lnSpc>
                <a:spcPct val="81000"/>
              </a:lnSpc>
              <a:tabLst/>
            </a:pPr>
            <a:r>
              <a:rPr sz="4000" b="1" kern="0" spc="-1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Future</a:t>
            </a:r>
            <a:r>
              <a:rPr sz="4000" b="1" kern="0" spc="28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4000" b="1" kern="0" spc="-13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Enhancements</a:t>
            </a:r>
            <a:endParaRPr sz="4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726"/>
              </a:lnSpc>
              <a:spcBef>
                <a:spcPts val="91"/>
              </a:spcBef>
              <a:tabLst/>
            </a:pPr>
            <a:r>
              <a:rPr sz="20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Planned</a:t>
            </a:r>
            <a:r>
              <a:rPr sz="2000" kern="0" spc="2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0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improvements to</a:t>
            </a:r>
            <a:r>
              <a:rPr sz="20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0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expand</a:t>
            </a:r>
            <a:r>
              <a:rPr sz="2000" kern="0" spc="1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0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system</a:t>
            </a:r>
            <a:r>
              <a:rPr sz="20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0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capabilit</a:t>
            </a:r>
            <a:r>
              <a:rPr sz="20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ies</a:t>
            </a:r>
            <a:endParaRPr sz="2000" dirty="0">
              <a:latin typeface="Arial"/>
              <a:ea typeface="Arial"/>
              <a:cs typeface="Arial"/>
            </a:endParaRPr>
          </a:p>
        </p:txBody>
      </p:sp>
      <p:sp>
        <p:nvSpPr>
          <p:cNvPr id="148" name="textbox 148"/>
          <p:cNvSpPr/>
          <p:nvPr/>
        </p:nvSpPr>
        <p:spPr>
          <a:xfrm>
            <a:off x="2476540" y="4480527"/>
            <a:ext cx="3189604" cy="106933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3015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1000"/>
              </a:lnSpc>
              <a:tabLst/>
            </a:pPr>
            <a:r>
              <a:rPr sz="2000" b="1" kern="0" spc="-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Network Capabilities</a:t>
            </a:r>
            <a:endParaRPr sz="2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ts val="2111"/>
              </a:lnSpc>
              <a:spcBef>
                <a:spcPts val="277"/>
              </a:spcBef>
              <a:tabLst/>
            </a:pP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Multi-loc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ation   access,cloud</a:t>
            </a:r>
            <a:endParaRPr sz="16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100000"/>
              </a:lnSpc>
              <a:spcBef>
                <a:spcPts val="34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synchronization,and</a:t>
            </a:r>
            <a:r>
              <a:rPr sz="1600" kern="0" spc="3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remote</a:t>
            </a:r>
            <a:r>
              <a:rPr sz="1600" kern="0" spc="3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library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management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150" name="textbox 150"/>
          <p:cNvSpPr/>
          <p:nvPr/>
        </p:nvSpPr>
        <p:spPr>
          <a:xfrm>
            <a:off x="7797861" y="2569202"/>
            <a:ext cx="3004820" cy="10864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3016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1000"/>
              </a:lnSpc>
              <a:tabLst/>
            </a:pPr>
            <a:r>
              <a:rPr sz="2000" b="1" kern="0" spc="-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Graphical Interface</a:t>
            </a:r>
            <a:endParaRPr sz="2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105000"/>
              </a:lnSpc>
              <a:spcBef>
                <a:spcPts val="348"/>
              </a:spcBef>
              <a:tabLst/>
            </a:pP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User-friendly</a:t>
            </a:r>
            <a:r>
              <a:rPr sz="1600" kern="0" spc="2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desktop</a:t>
            </a:r>
            <a:r>
              <a:rPr sz="1600" kern="0" spc="2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application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with</a:t>
            </a:r>
            <a:r>
              <a:rPr sz="1600" kern="0" spc="1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intuitive</a:t>
            </a:r>
            <a:r>
              <a:rPr sz="16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design</a:t>
            </a:r>
            <a:r>
              <a:rPr sz="1600" kern="0" spc="1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600" kern="0" spc="1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visual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600" kern="0" spc="4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management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7797860" y="4508266"/>
            <a:ext cx="2884170" cy="107124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3966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2000"/>
              </a:lnSpc>
              <a:tabLst/>
            </a:pPr>
            <a:r>
              <a:rPr sz="2000" b="1" kern="0" spc="-6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Advanced Search</a:t>
            </a:r>
            <a:endParaRPr sz="2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106000"/>
              </a:lnSpc>
              <a:spcBef>
                <a:spcPts val="172"/>
              </a:spcBef>
              <a:tabLst/>
            </a:pP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Al-powered</a:t>
            </a:r>
            <a:r>
              <a:rPr sz="1600" kern="0" spc="34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recommendations,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complex</a:t>
            </a:r>
            <a:r>
              <a:rPr sz="1600" kern="0" spc="37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queries,and</a:t>
            </a:r>
            <a:r>
              <a:rPr sz="1600" kern="0" spc="4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intelligent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book</a:t>
            </a:r>
            <a:r>
              <a:rPr sz="1600" kern="0" spc="2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disco</a:t>
            </a:r>
            <a:r>
              <a:rPr sz="1600" kern="0" spc="-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very</a:t>
            </a:r>
            <a:endParaRPr sz="1600" dirty="0">
              <a:latin typeface="Arial"/>
              <a:ea typeface="Arial"/>
              <a:cs typeface="Arial"/>
            </a:endParaRPr>
          </a:p>
        </p:txBody>
      </p:sp>
      <p:sp>
        <p:nvSpPr>
          <p:cNvPr id="154" name="textbox 154"/>
          <p:cNvSpPr/>
          <p:nvPr/>
        </p:nvSpPr>
        <p:spPr>
          <a:xfrm>
            <a:off x="2476540" y="2562638"/>
            <a:ext cx="2921000" cy="106933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2707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80000"/>
              </a:lnSpc>
              <a:tabLst/>
            </a:pPr>
            <a:r>
              <a:rPr sz="2000" b="1" kern="0" spc="-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Database</a:t>
            </a:r>
            <a:r>
              <a:rPr sz="2000" b="1" kern="0" spc="12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1" kern="0" spc="-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Integration</a:t>
            </a:r>
            <a:endParaRPr sz="2000" dirty="0">
              <a:latin typeface="Arial"/>
              <a:ea typeface="Arial"/>
              <a:cs typeface="Arial"/>
            </a:endParaRPr>
          </a:p>
          <a:p>
            <a:pPr marL="12700" algn="l" rtl="0" eaLnBrk="0">
              <a:lnSpc>
                <a:spcPct val="110000"/>
              </a:lnSpc>
              <a:spcBef>
                <a:spcPts val="347"/>
              </a:spcBef>
              <a:tabLst/>
            </a:pP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MySQL/Pos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tgreSQL support for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scalable data</a:t>
            </a:r>
            <a:r>
              <a:rPr sz="1600" kern="0" spc="10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storage</a:t>
            </a:r>
            <a:r>
              <a:rPr sz="1600" kern="0" spc="9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and</a:t>
            </a:r>
            <a:r>
              <a:rPr sz="1600" kern="0" spc="1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600" kern="0" spc="-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multi-</a:t>
            </a:r>
            <a:r>
              <a:rPr sz="1600" kern="0" spc="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</a:t>
            </a:r>
            <a:r>
              <a:rPr sz="13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  <a:r>
              <a:rPr sz="1300" kern="0" spc="5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    </a:t>
            </a:r>
            <a:r>
              <a:rPr sz="1300" kern="0" spc="10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accesS</a:t>
            </a:r>
            <a:endParaRPr sz="1300" dirty="0">
              <a:latin typeface="Arial"/>
              <a:ea typeface="Arial"/>
              <a:cs typeface="Arial"/>
            </a:endParaRPr>
          </a:p>
        </p:txBody>
      </p:sp>
      <p:pic>
        <p:nvPicPr>
          <p:cNvPr id="156" name="picture 1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6400800" y="2425674"/>
            <a:ext cx="1263701" cy="1263655"/>
          </a:xfrm>
          <a:prstGeom prst="rect">
            <a:avLst/>
          </a:prstGeom>
        </p:spPr>
      </p:pic>
      <p:pic>
        <p:nvPicPr>
          <p:cNvPr id="158" name="picture 15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6413479" y="4343377"/>
            <a:ext cx="1251021" cy="1263655"/>
          </a:xfrm>
          <a:prstGeom prst="rect">
            <a:avLst/>
          </a:prstGeom>
        </p:spPr>
      </p:pic>
      <p:pic>
        <p:nvPicPr>
          <p:cNvPr id="160" name="picture 1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1123980" y="4349755"/>
            <a:ext cx="1225539" cy="1238211"/>
          </a:xfrm>
          <a:prstGeom prst="rect">
            <a:avLst/>
          </a:prstGeom>
        </p:spPr>
      </p:pic>
      <p:pic>
        <p:nvPicPr>
          <p:cNvPr id="162" name="picture 1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5575279" y="6121382"/>
            <a:ext cx="1073139" cy="7366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407</Words>
  <Application>Microsoft Office PowerPoint</Application>
  <PresentationFormat>Widescreen</PresentationFormat>
  <Paragraphs>161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SimSun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GlitchShift</cp:lastModifiedBy>
  <cp:revision>1</cp:revision>
  <dcterms:created xsi:type="dcterms:W3CDTF">2026-01-16T00:00:07Z</dcterms:created>
  <dcterms:modified xsi:type="dcterms:W3CDTF">2026-01-15T16:02:06Z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wqlLaW5nc29mdCBQREYgdG8gV1BTIDExMEI</vt:lpwstr>
  </property>
  <property fmtid="{D5CDD505-2E9C-101B-9397-08002B2CF9AE}" pid="3" name="Created">
    <vt:filetime>2026-01-16T00:00:12Z</vt:filetime>
  </property>
  <property fmtid="{D5CDD505-2E9C-101B-9397-08002B2CF9AE}" pid="4" name="UsrData">
    <vt:lpwstr>69690f05f7474f0001facf94wl</vt:lpwstr>
  </property>
</Properties>
</file>