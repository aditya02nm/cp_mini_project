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7319" y="849371"/>
            <a:ext cx="10187305" cy="286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{</a:t>
            </a:r>
            <a:endParaRPr sz="2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ctr" rtl="0" eaLnBrk="0">
              <a:lnSpc>
                <a:spcPct val="81000"/>
              </a:lnSpc>
              <a:spcBef>
                <a:spcPts val="2680"/>
              </a:spcBef>
              <a:tabLst/>
            </a:pPr>
            <a:r>
              <a:rPr lang="en-GB" sz="8900" b="1" kern="0" spc="-300" dirty="0">
                <a:solidFill>
                  <a:srgbClr val="307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900" b="1" kern="0" spc="-300" dirty="0" err="1">
                <a:solidFill>
                  <a:srgbClr val="307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LibManage</a:t>
            </a:r>
            <a:endParaRPr sz="8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49450" algn="l" rtl="0" eaLnBrk="0">
              <a:lnSpc>
                <a:spcPct val="83000"/>
              </a:lnSpc>
              <a:tabLst/>
            </a:pPr>
            <a:r>
              <a:rPr sz="38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38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3800" b="1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38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nagement System</a:t>
            </a:r>
            <a:endParaRPr sz="3800" dirty="0">
              <a:latin typeface="Arial"/>
              <a:ea typeface="Arial"/>
              <a:cs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216359" y="3924284"/>
            <a:ext cx="7975640" cy="293371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7060" y="3962415"/>
            <a:ext cx="3009839" cy="2514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847799" y="4300044"/>
            <a:ext cx="959485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82000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1"/>
              </a:spcBef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Database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499620" y="4300478"/>
            <a:ext cx="688975" cy="518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3500" indent="-50800" algn="l" rtl="0" eaLnBrk="0">
              <a:lnSpc>
                <a:spcPct val="97000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Users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30339" y="2419365"/>
            <a:ext cx="9112300" cy="2165344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1422420" y="5348716"/>
            <a:ext cx="9317990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3365" algn="l" rtl="0" eaLnBrk="0">
              <a:lnSpc>
                <a:spcPts val="2267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Digital</a:t>
            </a:r>
            <a:r>
              <a:rPr sz="17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7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7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seamlessly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connects</a:t>
            </a:r>
            <a:r>
              <a:rPr sz="17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r>
              <a:rPr sz="1700" kern="0" spc="3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borrowers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17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intelligent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4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automation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providing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efficient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tracking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streamlined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borrowing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057400" algn="l" rtl="0" eaLnBrk="0">
              <a:lnSpc>
                <a:spcPts val="2302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processes</a:t>
            </a:r>
            <a:r>
              <a:rPr sz="17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7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intuitive</a:t>
            </a:r>
            <a:r>
              <a:rPr sz="1700" kern="0" spc="4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command-line</a:t>
            </a:r>
            <a:r>
              <a:rPr sz="1700" kern="0" spc="4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3447999" y="904290"/>
            <a:ext cx="5207634" cy="671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52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Project </a:t>
            </a:r>
            <a:r>
              <a:rPr sz="52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Overvie</a:t>
            </a:r>
            <a:r>
              <a:rPr sz="5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endParaRPr sz="52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5695960" y="4583584"/>
            <a:ext cx="756284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009599" y="2789639"/>
            <a:ext cx="2884804" cy="643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2150" algn="l" rtl="0" eaLnBrk="0">
              <a:lnSpc>
                <a:spcPct val="82000"/>
              </a:lnSpc>
              <a:tabLst/>
            </a:pP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Add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spcBef>
                <a:spcPts val="428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Register</a:t>
            </a:r>
            <a:r>
              <a:rPr sz="16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6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 with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details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4152940" y="690572"/>
            <a:ext cx="3901440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</a:t>
            </a:r>
            <a:r>
              <a:rPr sz="47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endParaRPr sz="47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003259" y="5145499"/>
            <a:ext cx="2884804" cy="631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700" algn="l" rtl="0" eaLnBrk="0">
              <a:lnSpc>
                <a:spcPct val="82000"/>
              </a:lnSpc>
              <a:tabLst/>
            </a:pP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spcBef>
                <a:spcPts val="328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</a:t>
            </a:r>
            <a:r>
              <a:rPr sz="16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6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urns</a:t>
            </a:r>
            <a:r>
              <a:rPr sz="16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efficiently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8375639" y="5122553"/>
            <a:ext cx="2738754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83000"/>
              </a:lnSpc>
              <a:tabLst/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 Collection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spcBef>
                <a:spcPts val="430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Organize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ks alphabetically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4806919" y="2802326"/>
            <a:ext cx="2554604" cy="643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ct val="82000"/>
              </a:lnSpc>
              <a:tabLst/>
            </a:pP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Remove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spcBef>
                <a:spcPts val="428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Delete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 from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inventory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496340" y="2789639"/>
            <a:ext cx="2503804" cy="656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8765" algn="l" rtl="0" eaLnBrk="0">
              <a:lnSpc>
                <a:spcPct val="82000"/>
              </a:lnSpc>
              <a:tabLst/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</a:t>
            </a:r>
            <a:r>
              <a:rPr sz="16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 to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users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826061" y="5122553"/>
            <a:ext cx="2533650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83000"/>
              </a:lnSpc>
              <a:tabLst/>
            </a:pP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0"/>
              </a:lnSpc>
              <a:spcBef>
                <a:spcPts val="430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Find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r>
              <a:rPr sz="16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titl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 or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91200" y="4260875"/>
            <a:ext cx="603260" cy="603229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455139" y="4260875"/>
            <a:ext cx="590580" cy="60322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58959" y="4267184"/>
            <a:ext cx="590580" cy="59692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58959" y="1943077"/>
            <a:ext cx="584240" cy="590542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810218" y="1943077"/>
            <a:ext cx="584240" cy="590542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455139" y="1943077"/>
            <a:ext cx="584240" cy="5905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rect 66"/>
          <p:cNvSpPr/>
          <p:nvPr/>
        </p:nvSpPr>
        <p:spPr>
          <a:xfrm>
            <a:off x="4362418" y="3924284"/>
            <a:ext cx="7232660" cy="2432052"/>
          </a:xfrm>
          <a:prstGeom prst="rect">
            <a:avLst/>
          </a:prstGeom>
          <a:solidFill>
            <a:srgbClr val="1B23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8" name="rect 68"/>
          <p:cNvSpPr/>
          <p:nvPr/>
        </p:nvSpPr>
        <p:spPr>
          <a:xfrm>
            <a:off x="603260" y="2038334"/>
            <a:ext cx="3397300" cy="4330689"/>
          </a:xfrm>
          <a:prstGeom prst="rect">
            <a:avLst/>
          </a:prstGeom>
          <a:solidFill>
            <a:srgbClr val="1A24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" name="textbox 70"/>
          <p:cNvSpPr/>
          <p:nvPr/>
        </p:nvSpPr>
        <p:spPr>
          <a:xfrm>
            <a:off x="4419579" y="3509027"/>
            <a:ext cx="5017134" cy="184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500" b="1" kern="0" spc="-100" dirty="0">
                <a:solidFill>
                  <a:srgbClr val="206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Bubble So</a:t>
            </a:r>
            <a:r>
              <a:rPr sz="2500" b="1" kern="0" spc="-110" dirty="0">
                <a:solidFill>
                  <a:srgbClr val="206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rt Algorithm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79000"/>
              </a:lnSpc>
              <a:spcBef>
                <a:spcPts val="451"/>
              </a:spcBef>
              <a:tabLst/>
            </a:pPr>
            <a:r>
              <a:rPr sz="1500" kern="0" spc="0" dirty="0">
                <a:solidFill>
                  <a:srgbClr val="509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void</a:t>
            </a:r>
            <a:r>
              <a:rPr sz="1500" kern="0" spc="80" dirty="0">
                <a:solidFill>
                  <a:srgbClr val="509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sortBooksByTitle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(){</a:t>
            </a:r>
            <a:endParaRPr sz="15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26564" indent="-393065" algn="l" rtl="0" eaLnBrk="0">
              <a:lnSpc>
                <a:spcPct val="81000"/>
              </a:lnSpc>
              <a:spcBef>
                <a:spcPts val="460"/>
              </a:spcBef>
              <a:tabLst/>
            </a:pPr>
            <a:r>
              <a:rPr sz="1500" kern="0" spc="0" dirty="0">
                <a:solidFill>
                  <a:srgbClr val="A0E0E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1500" kern="0" spc="50" dirty="0">
                <a:solidFill>
                  <a:srgbClr val="A0E0E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strcmp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library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[j].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title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library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[j+1].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title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)&gt;0){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=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[j];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27200" algn="l" rtl="0" eaLnBrk="0">
              <a:lnSpc>
                <a:spcPct val="100000"/>
              </a:lnSpc>
              <a:spcBef>
                <a:spcPts val="7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[j]=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[j+1]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387900" y="2032025"/>
            <a:ext cx="7194550" cy="1206500"/>
          </a:xfrm>
          <a:prstGeom prst="rect">
            <a:avLst/>
          </a:prstGeom>
          <a:solidFill>
            <a:srgbClr val="1A22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84000"/>
              </a:lnSpc>
              <a:spcBef>
                <a:spcPts val="5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];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75000"/>
              </a:lnSpc>
              <a:spcBef>
                <a:spcPts val="246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users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MAX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USERS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];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96000"/>
              </a:lnSpc>
              <a:spcBef>
                <a:spcPts val="60"/>
              </a:spcBef>
              <a:tabLst/>
            </a:pPr>
            <a:r>
              <a:rPr sz="1500" kern="0" spc="0" dirty="0">
                <a:solidFill>
                  <a:srgbClr val="409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500" kern="0" spc="100" dirty="0">
                <a:solidFill>
                  <a:srgbClr val="409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bookCount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=0;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ts val="1856"/>
              </a:lnSpc>
              <a:tabLst/>
            </a:pPr>
            <a:r>
              <a:rPr sz="1500" kern="0" spc="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500" kern="0" spc="12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userCount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=0;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654080" y="1647495"/>
            <a:ext cx="2192654" cy="2507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6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2500" b="1" kern="0" spc="-110" dirty="0">
                <a:solidFill>
                  <a:srgbClr val="306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Structures</a:t>
            </a:r>
            <a:endParaRPr sz="25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ts val="2283"/>
              </a:lnSpc>
              <a:spcBef>
                <a:spcPts val="1673"/>
              </a:spcBef>
              <a:tabLst/>
            </a:pPr>
            <a:r>
              <a:rPr sz="1800" kern="0" spc="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typedef</a:t>
            </a:r>
            <a:r>
              <a:rPr sz="1800" kern="0" spc="12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40A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</a:t>
            </a:r>
            <a:r>
              <a:rPr sz="1800" kern="0" spc="120" dirty="0">
                <a:solidFill>
                  <a:srgbClr val="40A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20" dirty="0">
                <a:solidFill>
                  <a:srgbClr val="98B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ts val="1506"/>
              </a:lnSpc>
              <a:tabLst/>
            </a:pPr>
            <a:r>
              <a:rPr sz="2200" kern="0" spc="-30" dirty="0">
                <a:solidFill>
                  <a:srgbClr val="409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</a:t>
            </a:r>
            <a:r>
              <a:rPr sz="2200" kern="0" spc="430" dirty="0">
                <a:solidFill>
                  <a:srgbClr val="409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id;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marL="558165" algn="l" rtl="0" eaLnBrk="0">
              <a:lnSpc>
                <a:spcPts val="2226"/>
              </a:lnSpc>
              <a:tabLst/>
            </a:pPr>
            <a:r>
              <a:rPr sz="1800" kern="0" spc="0" dirty="0">
                <a:solidFill>
                  <a:srgbClr val="5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</a:t>
            </a:r>
            <a:r>
              <a:rPr sz="1800" kern="0" spc="30" dirty="0">
                <a:solidFill>
                  <a:srgbClr val="5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title</a:t>
            </a:r>
            <a:r>
              <a:rPr sz="18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[100];</a:t>
            </a:r>
            <a:endParaRPr sz="18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ts val="1985"/>
              </a:lnSpc>
              <a:tabLst/>
            </a:pPr>
            <a:r>
              <a:rPr sz="1500" kern="0" spc="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</a:t>
            </a:r>
            <a:r>
              <a:rPr sz="1500" kern="0" spc="9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[50];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39064" indent="419100" algn="l" rtl="0" eaLnBrk="0">
              <a:lnSpc>
                <a:spcPct val="92000"/>
              </a:lnSpc>
              <a:spcBef>
                <a:spcPts val="8"/>
              </a:spcBef>
              <a:tabLst/>
            </a:pPr>
            <a:r>
              <a:rPr sz="1800" kern="0" spc="0" dirty="0">
                <a:solidFill>
                  <a:srgbClr val="40A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</a:t>
            </a:r>
            <a:r>
              <a:rPr sz="1800" kern="0" spc="50" dirty="0">
                <a:solidFill>
                  <a:srgbClr val="40A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isAvailable</a:t>
            </a:r>
            <a:r>
              <a:rPr sz="18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;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3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ts val="2521"/>
              </a:lnSpc>
              <a:tabLst/>
            </a:pPr>
            <a:r>
              <a:rPr sz="1800" kern="0" spc="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typedef</a:t>
            </a:r>
            <a:r>
              <a:rPr sz="1800" kern="0" spc="12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85878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</a:t>
            </a:r>
            <a:r>
              <a:rPr sz="1800" kern="0" spc="230" dirty="0">
                <a:solidFill>
                  <a:srgbClr val="085878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20" dirty="0">
                <a:solidFill>
                  <a:srgbClr val="085878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3479820" y="676846"/>
            <a:ext cx="5241925" cy="559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4300" b="1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 Implementati</a:t>
            </a:r>
            <a:r>
              <a:rPr sz="4300" b="1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43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780999" y="4028061"/>
            <a:ext cx="2466339" cy="1045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800" algn="l" rtl="0" eaLnBrk="0">
              <a:lnSpc>
                <a:spcPts val="2368"/>
              </a:lnSpc>
              <a:tabLst/>
            </a:pPr>
            <a:r>
              <a:rPr sz="1800" kern="0" spc="-1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800" kern="0" spc="18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userId;</a:t>
            </a:r>
            <a:endParaRPr sz="1800" dirty="0">
              <a:latin typeface="Arial"/>
              <a:ea typeface="Arial"/>
              <a:cs typeface="Arial"/>
            </a:endParaRPr>
          </a:p>
          <a:p>
            <a:pPr marL="431800" algn="l" rtl="0" eaLnBrk="0">
              <a:lnSpc>
                <a:spcPts val="1878"/>
              </a:lnSpc>
              <a:tabLst/>
            </a:pPr>
            <a:r>
              <a:rPr sz="1500" kern="0" spc="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char</a:t>
            </a:r>
            <a:r>
              <a:rPr sz="1500" kern="0" spc="14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[50];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indent="419100" algn="l" rtl="0" eaLnBrk="0">
              <a:lnSpc>
                <a:spcPct val="105000"/>
              </a:lnSpc>
              <a:spcBef>
                <a:spcPts val="1"/>
              </a:spcBef>
              <a:tabLst/>
            </a:pPr>
            <a:r>
              <a:rPr sz="1500" kern="0" spc="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500" kern="0" spc="110" dirty="0">
                <a:solidFill>
                  <a:srgbClr val="409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borrowedBooks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[5];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Borrower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59318" y="4256458"/>
            <a:ext cx="376364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12"/>
              </a:lnSpc>
              <a:tabLst/>
            </a:pPr>
            <a:r>
              <a:rPr sz="1500" kern="0" spc="0" dirty="0">
                <a:solidFill>
                  <a:srgbClr val="207088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500" kern="0" spc="30" dirty="0">
                <a:solidFill>
                  <a:srgbClr val="207088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kern="0" spc="0" dirty="0">
                <a:solidFill>
                  <a:srgbClr val="207088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500" kern="0" spc="10" dirty="0">
                <a:solidFill>
                  <a:srgbClr val="207088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=0;i&lt;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bookCount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-1;i++){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346658" y="4453351"/>
            <a:ext cx="396684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12"/>
              </a:lnSpc>
              <a:tabLst/>
            </a:pPr>
            <a:r>
              <a:rPr sz="1500" kern="0" spc="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500" kern="0" spc="3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kern="0" spc="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1500" kern="0" spc="3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1500" kern="0" spc="2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j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=0;j&lt;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bookCount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-i-1;j++){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406900" y="1652262"/>
            <a:ext cx="269621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500" b="1" kern="0" spc="-100" dirty="0">
                <a:solidFill>
                  <a:srgbClr val="206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</a:t>
            </a:r>
            <a:r>
              <a:rPr sz="2500" b="1" kern="0" spc="-90" dirty="0">
                <a:solidFill>
                  <a:srgbClr val="206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ray Managemen</a:t>
            </a:r>
            <a:r>
              <a:rPr sz="2500" b="1" kern="0" spc="-70" dirty="0">
                <a:solidFill>
                  <a:srgbClr val="206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134140" y="5231300"/>
            <a:ext cx="1824354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8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[j+1]=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temp</a:t>
            </a:r>
            <a:r>
              <a:rPr sz="18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1917659" y="4260834"/>
            <a:ext cx="8357234" cy="1869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ts val="2728"/>
              </a:lnSpc>
              <a:tabLst/>
            </a:pPr>
            <a:r>
              <a:rPr sz="2900" kern="0" spc="0" baseline="15488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Enter</a:t>
            </a:r>
            <a:r>
              <a:rPr sz="1800" kern="0" spc="5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900" kern="0" spc="0" baseline="15488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choice</a:t>
            </a:r>
            <a:r>
              <a:rPr sz="2900" kern="0" spc="10" baseline="15488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:_</a:t>
            </a:r>
            <a:r>
              <a:rPr sz="18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</a:t>
            </a:r>
            <a:r>
              <a:rPr sz="2300" kern="0" spc="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kern="0" spc="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kern="0" spc="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key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300" kern="0" spc="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2300" kern="0" spc="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continue</a:t>
            </a:r>
            <a:r>
              <a:rPr sz="2300" kern="0" spc="10" baseline="10469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endParaRPr sz="2300" baseline="10469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19"/>
              </a:lnSpc>
              <a:spcBef>
                <a:spcPts val="571"/>
              </a:spcBef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Interactive  command-line  interface  providing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intuitive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navigation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clear</a:t>
            </a:r>
            <a:endParaRPr sz="1900" dirty="0">
              <a:latin typeface="Arial"/>
              <a:ea typeface="Arial"/>
              <a:cs typeface="Arial"/>
            </a:endParaRPr>
          </a:p>
          <a:p>
            <a:pPr marL="615950" algn="l" rtl="0" eaLnBrk="0">
              <a:lnSpc>
                <a:spcPts val="2519"/>
              </a:lnSpc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  feedback  for  seamless  libr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ary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  operations.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2063719" y="2289865"/>
            <a:ext cx="2684779" cy="196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500" kern="0" spc="5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===</a:t>
            </a:r>
            <a:r>
              <a:rPr sz="1500" kern="0" spc="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LibeManage</a:t>
            </a:r>
            <a:r>
              <a:rPr sz="1500" kern="0" spc="10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1500" kern="0" spc="11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50" dirty="0">
                <a:solidFill>
                  <a:srgbClr val="2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===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57"/>
              </a:spcBef>
              <a:tabLst/>
            </a:pPr>
            <a:r>
              <a:rPr sz="1500" kern="0" spc="-30" dirty="0">
                <a:solidFill>
                  <a:srgbClr val="30D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1.Add</a:t>
            </a:r>
            <a:r>
              <a:rPr sz="1500" kern="0" spc="80" dirty="0">
                <a:solidFill>
                  <a:srgbClr val="30D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500" kern="0" spc="-30" dirty="0">
                <a:solidFill>
                  <a:srgbClr val="30C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365"/>
              </a:spcBef>
              <a:tabLst/>
            </a:pPr>
            <a:r>
              <a:rPr sz="1500" kern="0" spc="0" dirty="0">
                <a:solidFill>
                  <a:srgbClr val="30C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2.View     </a:t>
            </a:r>
            <a:r>
              <a:rPr sz="1500" kern="0" spc="0" dirty="0">
                <a:solidFill>
                  <a:srgbClr val="3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12"/>
              </a:lnSpc>
              <a:tabLst/>
            </a:pPr>
            <a:r>
              <a:rPr sz="1500" kern="0" spc="2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1500" kern="0" spc="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Borrow</a:t>
            </a:r>
            <a:r>
              <a:rPr sz="1500" kern="0" spc="2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217"/>
              </a:spcBef>
              <a:tabLst/>
            </a:pPr>
            <a:r>
              <a:rPr sz="1500" kern="0" spc="60" dirty="0">
                <a:solidFill>
                  <a:srgbClr val="3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1500" kern="0" spc="0" dirty="0">
                <a:solidFill>
                  <a:srgbClr val="3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1500" kern="0" spc="60" dirty="0">
                <a:solidFill>
                  <a:srgbClr val="3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0" dirty="0">
                <a:solidFill>
                  <a:srgbClr val="3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6"/>
              </a:spcBef>
              <a:tabLst/>
            </a:pPr>
            <a:r>
              <a:rPr sz="1500" kern="0" spc="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5.Search</a:t>
            </a:r>
            <a:r>
              <a:rPr sz="1500" kern="0" spc="30" dirty="0">
                <a:solidFill>
                  <a:srgbClr val="20D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500" kern="0" spc="0" dirty="0">
                <a:solidFill>
                  <a:srgbClr val="40C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07"/>
              </a:lnSpc>
              <a:tabLst/>
            </a:pPr>
            <a:r>
              <a:rPr sz="1900" kern="0" spc="-20" dirty="0">
                <a:solidFill>
                  <a:srgbClr val="30C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6.Exit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572198" y="2270130"/>
            <a:ext cx="3626484" cy="964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6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900" kern="0" spc="-70" dirty="0">
                <a:solidFill>
                  <a:srgbClr val="2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Search</a:t>
            </a:r>
            <a:r>
              <a:rPr sz="1900" kern="0" spc="100" dirty="0">
                <a:solidFill>
                  <a:srgbClr val="2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70" dirty="0">
                <a:solidFill>
                  <a:srgbClr val="2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</a:t>
            </a:r>
            <a:r>
              <a:rPr sz="1900" kern="0" spc="-80" dirty="0">
                <a:solidFill>
                  <a:srgbClr val="20C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ults:</a:t>
            </a:r>
            <a:endParaRPr sz="1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7000"/>
              </a:lnSpc>
              <a:spcBef>
                <a:spcPts val="1629"/>
              </a:spcBef>
              <a:tabLst/>
            </a:pPr>
            <a:r>
              <a:rPr sz="1900" kern="0" spc="-10" dirty="0">
                <a:solidFill>
                  <a:srgbClr val="30C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ID:101</a:t>
            </a:r>
            <a:r>
              <a:rPr sz="1900" kern="0" spc="40" dirty="0">
                <a:solidFill>
                  <a:srgbClr val="30C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900" kern="0" spc="-10" dirty="0">
                <a:solidFill>
                  <a:srgbClr val="30C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|Title:</a:t>
            </a:r>
            <a:r>
              <a:rPr sz="1900" kern="0" spc="340" dirty="0">
                <a:solidFill>
                  <a:srgbClr val="30C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00" kern="0" spc="-10" dirty="0">
                <a:solidFill>
                  <a:srgbClr val="30D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900" kern="0" spc="-20" dirty="0">
                <a:solidFill>
                  <a:srgbClr val="30D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ata   Structures   |</a:t>
            </a:r>
            <a:endParaRPr sz="19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2379"/>
              </a:lnSpc>
              <a:tabLst/>
            </a:pPr>
            <a:r>
              <a:rPr sz="1900" kern="0" spc="-10" dirty="0">
                <a:solidFill>
                  <a:srgbClr val="30D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Author:Smith</a:t>
            </a:r>
            <a:r>
              <a:rPr sz="1900" kern="0" spc="100" dirty="0">
                <a:solidFill>
                  <a:srgbClr val="30D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-10" dirty="0">
                <a:solidFill>
                  <a:srgbClr val="30D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|Status:Availabl</a:t>
            </a:r>
            <a:r>
              <a:rPr sz="1900" kern="0" spc="-20" dirty="0">
                <a:solidFill>
                  <a:srgbClr val="30D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3816318" y="701690"/>
            <a:ext cx="4577079" cy="683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5300" b="1" kern="0" spc="-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</a:t>
            </a:r>
            <a:r>
              <a:rPr sz="53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</a:t>
            </a:r>
            <a:r>
              <a:rPr sz="5300" b="1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Interfac</a:t>
            </a:r>
            <a:r>
              <a:rPr sz="5300" b="1" kern="0" spc="-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5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356079" y="1727187"/>
            <a:ext cx="3492520" cy="2133592"/>
            <a:chOff x="0" y="0"/>
            <a:chExt cx="3492520" cy="2133592"/>
          </a:xfrm>
        </p:grpSpPr>
        <p:pic>
          <p:nvPicPr>
            <p:cNvPr id="100" name="picture 1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92520" cy="2133592"/>
            </a:xfrm>
            <a:prstGeom prst="rect">
              <a:avLst/>
            </a:prstGeom>
          </p:spPr>
        </p:pic>
        <p:sp>
          <p:nvSpPr>
            <p:cNvPr id="102" name="textbox 102"/>
            <p:cNvSpPr/>
            <p:nvPr/>
          </p:nvSpPr>
          <p:spPr>
            <a:xfrm>
              <a:off x="-12700" y="-12700"/>
              <a:ext cx="3518534" cy="21659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4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06500" algn="l" rtl="0" eaLnBrk="0">
                <a:lnSpc>
                  <a:spcPct val="81000"/>
                </a:lnSpc>
                <a:tabLst/>
              </a:pPr>
              <a:r>
                <a:rPr sz="2500" b="1" kern="0" spc="-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Pointers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329565" algn="l" rtl="0" eaLnBrk="0">
                <a:lnSpc>
                  <a:spcPct val="111000"/>
                </a:lnSpc>
                <a:spcBef>
                  <a:spcPts val="5"/>
                </a:spcBef>
                <a:tabLst/>
              </a:pP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Memory  management</a:t>
              </a:r>
              <a:r>
                <a:rPr sz="1800" kern="0" spc="4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data</a:t>
              </a:r>
              <a:r>
                <a:rPr sz="1800" kern="0" spc="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linking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349739" y="4133865"/>
            <a:ext cx="3498860" cy="2120905"/>
            <a:chOff x="0" y="0"/>
            <a:chExt cx="3498860" cy="2120905"/>
          </a:xfrm>
        </p:grpSpPr>
        <p:pic>
          <p:nvPicPr>
            <p:cNvPr id="104" name="picture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498860" cy="2120905"/>
            </a:xfrm>
            <a:prstGeom prst="rect">
              <a:avLst/>
            </a:prstGeom>
          </p:spPr>
        </p:pic>
        <p:sp>
          <p:nvSpPr>
            <p:cNvPr id="106" name="textbox 106"/>
            <p:cNvSpPr/>
            <p:nvPr/>
          </p:nvSpPr>
          <p:spPr>
            <a:xfrm>
              <a:off x="-12700" y="-12700"/>
              <a:ext cx="3524884" cy="21469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2850" algn="l" rtl="0" eaLnBrk="0">
                <a:lnSpc>
                  <a:spcPct val="80000"/>
                </a:lnSpc>
                <a:spcBef>
                  <a:spcPts val="1"/>
                </a:spcBef>
                <a:tabLst/>
              </a:pPr>
              <a:r>
                <a:rPr sz="2500" b="1" kern="0" spc="-10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Input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marL="1212850" algn="l" rtl="0" eaLnBrk="0">
                <a:lnSpc>
                  <a:spcPct val="81000"/>
                </a:lnSpc>
                <a:spcBef>
                  <a:spcPts val="384"/>
                </a:spcBef>
                <a:tabLst/>
              </a:pPr>
              <a:r>
                <a:rPr sz="2500" b="1" kern="0" spc="-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Validation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marL="335915" algn="l" rtl="0" eaLnBrk="0">
                <a:lnSpc>
                  <a:spcPts val="2521"/>
                </a:lnSpc>
                <a:spcBef>
                  <a:spcPts val="1020"/>
                </a:spcBef>
                <a:tabLst/>
              </a:pP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Eror</a:t>
              </a:r>
              <a:r>
                <a:rPr sz="1800" kern="0" spc="3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handling</a:t>
              </a:r>
              <a:r>
                <a:rPr sz="1800" kern="0" spc="2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1800" kern="0" spc="2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marL="311150" algn="l" rtl="0" eaLnBrk="0">
                <a:lnSpc>
                  <a:spcPts val="2338"/>
                </a:lnSpc>
                <a:spcBef>
                  <a:spcPts val="61"/>
                </a:spcBef>
                <a:tabLst/>
              </a:pP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integrity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03260" y="1739874"/>
            <a:ext cx="3479840" cy="2114595"/>
            <a:chOff x="0" y="0"/>
            <a:chExt cx="3479840" cy="21145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479840" cy="21145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505834" cy="2140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2850" algn="l" rtl="0" eaLnBrk="0">
                <a:lnSpc>
                  <a:spcPct val="82000"/>
                </a:lnSpc>
                <a:spcBef>
                  <a:spcPts val="7"/>
                </a:spcBef>
                <a:tabLst/>
              </a:pPr>
              <a:r>
                <a:rPr sz="2500" b="1" kern="0" spc="-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Structs</a:t>
              </a:r>
              <a:endParaRPr sz="2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29565" algn="l" rtl="0" eaLnBrk="0">
                <a:lnSpc>
                  <a:spcPts val="2521"/>
                </a:lnSpc>
                <a:spcBef>
                  <a:spcPts val="547"/>
                </a:spcBef>
                <a:tabLst/>
              </a:pP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Custom</a:t>
              </a:r>
              <a:r>
                <a:rPr sz="1800" kern="0" spc="3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data</a:t>
              </a:r>
              <a:r>
                <a:rPr sz="1800" kern="0" spc="2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types</a:t>
              </a:r>
              <a:r>
                <a:rPr sz="1800" kern="0" spc="2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marL="329565" algn="l" rtl="0" eaLnBrk="0">
                <a:lnSpc>
                  <a:spcPts val="2213"/>
                </a:lnSpc>
                <a:spcBef>
                  <a:spcPts val="103"/>
                </a:spcBef>
                <a:tabLst/>
              </a:pP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books</a:t>
              </a:r>
              <a:r>
                <a:rPr sz="1800" kern="0" spc="29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1800" kern="0" spc="3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users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2" name="textbox 112"/>
          <p:cNvSpPr/>
          <p:nvPr/>
        </p:nvSpPr>
        <p:spPr>
          <a:xfrm>
            <a:off x="609600" y="4146552"/>
            <a:ext cx="3474084" cy="2101850"/>
          </a:xfrm>
          <a:prstGeom prst="rect">
            <a:avLst/>
          </a:prstGeom>
          <a:solidFill>
            <a:srgbClr val="EAEF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800" algn="l" rtl="0" eaLnBrk="0">
              <a:lnSpc>
                <a:spcPct val="81000"/>
              </a:lnSpc>
              <a:tabLst/>
            </a:pPr>
            <a:r>
              <a:rPr sz="2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Sorting</a:t>
            </a:r>
            <a:endParaRPr sz="2500" dirty="0">
              <a:latin typeface="Arial"/>
              <a:ea typeface="Arial"/>
              <a:cs typeface="Arial"/>
            </a:endParaRPr>
          </a:p>
          <a:p>
            <a:pPr marL="1193800" algn="l" rtl="0" eaLnBrk="0">
              <a:lnSpc>
                <a:spcPct val="80000"/>
              </a:lnSpc>
              <a:spcBef>
                <a:spcPts val="550"/>
              </a:spcBef>
              <a:tabLst/>
            </a:pPr>
            <a:r>
              <a:rPr sz="2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Algorithms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126000"/>
              </a:lnSpc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Bubble sort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rganized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data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8407460" y="2331753"/>
            <a:ext cx="2774950" cy="1248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5664" algn="l" rtl="0" eaLnBrk="0">
              <a:lnSpc>
                <a:spcPct val="80000"/>
              </a:lnSpc>
              <a:tabLst/>
            </a:pPr>
            <a:r>
              <a:rPr sz="2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Arrays</a:t>
            </a:r>
            <a:endParaRPr sz="2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2000"/>
              </a:lnSpc>
              <a:spcBef>
                <a:spcPts val="4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8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collections</a:t>
            </a:r>
            <a:r>
              <a:rPr sz="18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8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databases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603239" y="777318"/>
            <a:ext cx="5969634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4800" b="1" kern="0" spc="-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Technical</a:t>
            </a:r>
            <a:r>
              <a:rPr sz="4800" b="1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Foundation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8407460" y="5366699"/>
            <a:ext cx="2741295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1"/>
              </a:lnSpc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Colorful CLI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interfa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ce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271019" y="4547206"/>
            <a:ext cx="1252219" cy="698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44"/>
              </a:lnSpc>
              <a:tabLst/>
            </a:pPr>
            <a:r>
              <a:rPr sz="25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Terminal</a:t>
            </a:r>
            <a:endParaRPr sz="2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50"/>
              </a:lnSpc>
              <a:tabLst/>
            </a:pPr>
            <a:r>
              <a:rPr sz="2500" b="1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Styling</a:t>
            </a:r>
            <a:endParaRPr sz="2500" dirty="0">
              <a:latin typeface="Arial"/>
              <a:ea typeface="Arial"/>
              <a:cs typeface="Arial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20161" y="4533892"/>
            <a:ext cx="653978" cy="5778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3073460" y="717288"/>
            <a:ext cx="6036309" cy="874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5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81000"/>
              </a:lnSpc>
              <a:tabLst/>
            </a:pPr>
            <a:r>
              <a:rPr sz="40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Future</a:t>
            </a:r>
            <a:r>
              <a:rPr sz="4000" b="1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Enhancements</a:t>
            </a:r>
            <a:endParaRPr sz="4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26"/>
              </a:lnSpc>
              <a:spcBef>
                <a:spcPts val="91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Planned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improvements to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expand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capabilit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ies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2476540" y="4480527"/>
            <a:ext cx="3189604" cy="1069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 Capabilities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11"/>
              </a:lnSpc>
              <a:spcBef>
                <a:spcPts val="277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Multi-loc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ation   access,cloud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4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synchronization,and</a:t>
            </a:r>
            <a:r>
              <a:rPr sz="16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remote</a:t>
            </a:r>
            <a:r>
              <a:rPr sz="1600" kern="0" spc="3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library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7797861" y="2569202"/>
            <a:ext cx="3004820" cy="1086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Graphical Interface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spcBef>
                <a:spcPts val="348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User-friendly</a:t>
            </a:r>
            <a:r>
              <a:rPr sz="16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desktop</a:t>
            </a:r>
            <a:r>
              <a:rPr sz="16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application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6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intuitive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</a:t>
            </a:r>
            <a:r>
              <a:rPr sz="16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600" kern="0" spc="4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7797860" y="4508266"/>
            <a:ext cx="2884170" cy="1071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Advanced Search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spcBef>
                <a:spcPts val="172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Al-powered</a:t>
            </a:r>
            <a:r>
              <a:rPr sz="1600" kern="0" spc="3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recommendations,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complex</a:t>
            </a:r>
            <a:r>
              <a:rPr sz="1600" kern="0" spc="3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queries,and</a:t>
            </a:r>
            <a:r>
              <a:rPr sz="1600" kern="0" spc="4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intelligent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book</a:t>
            </a:r>
            <a:r>
              <a:rPr sz="1600" kern="0" spc="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disco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very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2476540" y="2562638"/>
            <a:ext cx="2921000" cy="1069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7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Database</a:t>
            </a:r>
            <a:r>
              <a:rPr sz="20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Integration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spcBef>
                <a:spcPts val="347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MySQL/Pos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tgreSQL support for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scalable data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storage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multi-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accesS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00800" y="2425674"/>
            <a:ext cx="1263701" cy="1263655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13479" y="4343377"/>
            <a:ext cx="1251021" cy="1263655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23980" y="4349755"/>
            <a:ext cx="1225539" cy="1238211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75279" y="6121382"/>
            <a:ext cx="1073139" cy="736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407</Words>
  <Application>Microsoft Office PowerPoint</Application>
  <PresentationFormat>Widescreen</PresentationFormat>
  <Paragraphs>161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SimSun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GlitchShift</cp:lastModifiedBy>
  <cp:revision>2</cp:revision>
  <dcterms:created xsi:type="dcterms:W3CDTF">2026-01-16T00:00:07Z</dcterms:created>
  <dcterms:modified xsi:type="dcterms:W3CDTF">2026-01-15T16:04:23Z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2026-01-16T00:00:12Z</vt:filetime>
  </property>
  <property fmtid="{D5CDD505-2E9C-101B-9397-08002B2CF9AE}" pid="4" name="UsrData">
    <vt:lpwstr>69690f05f7474f0001facf94wl</vt:lpwstr>
  </property>
</Properties>
</file>